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3"/>
  </p:notesMasterIdLst>
  <p:sldIdLst>
    <p:sldId id="263" r:id="rId2"/>
    <p:sldId id="257" r:id="rId3"/>
    <p:sldId id="258" r:id="rId4"/>
    <p:sldId id="259" r:id="rId5"/>
    <p:sldId id="324" r:id="rId6"/>
    <p:sldId id="271" r:id="rId7"/>
    <p:sldId id="272" r:id="rId8"/>
    <p:sldId id="273" r:id="rId9"/>
    <p:sldId id="274" r:id="rId10"/>
    <p:sldId id="330" r:id="rId11"/>
    <p:sldId id="276" r:id="rId12"/>
    <p:sldId id="280" r:id="rId13"/>
    <p:sldId id="331" r:id="rId14"/>
    <p:sldId id="329" r:id="rId15"/>
    <p:sldId id="287" r:id="rId16"/>
    <p:sldId id="288" r:id="rId17"/>
    <p:sldId id="289" r:id="rId18"/>
    <p:sldId id="290" r:id="rId19"/>
    <p:sldId id="326" r:id="rId20"/>
    <p:sldId id="327" r:id="rId21"/>
    <p:sldId id="316" r:id="rId22"/>
    <p:sldId id="321" r:id="rId23"/>
    <p:sldId id="332" r:id="rId24"/>
    <p:sldId id="261" r:id="rId25"/>
    <p:sldId id="333" r:id="rId26"/>
    <p:sldId id="318" r:id="rId27"/>
    <p:sldId id="319" r:id="rId28"/>
    <p:sldId id="335" r:id="rId29"/>
    <p:sldId id="336" r:id="rId30"/>
    <p:sldId id="264" r:id="rId31"/>
    <p:sldId id="337" r:id="rId32"/>
    <p:sldId id="338" r:id="rId33"/>
    <p:sldId id="265" r:id="rId34"/>
    <p:sldId id="266" r:id="rId35"/>
    <p:sldId id="268" r:id="rId36"/>
    <p:sldId id="339" r:id="rId37"/>
    <p:sldId id="340" r:id="rId38"/>
    <p:sldId id="342" r:id="rId39"/>
    <p:sldId id="343" r:id="rId40"/>
    <p:sldId id="328" r:id="rId41"/>
    <p:sldId id="345" r:id="rId42"/>
  </p:sldIdLst>
  <p:sldSz cx="9144000" cy="6858000" type="screen4x3"/>
  <p:notesSz cx="6858000" cy="9144000"/>
  <p:defaultTextStyle>
    <a:defPPr>
      <a:defRPr lang="fr-FR"/>
    </a:defPPr>
    <a:lvl1pPr marL="0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1pPr>
    <a:lvl2pPr marL="45711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2pPr>
    <a:lvl3pPr marL="91422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3pPr>
    <a:lvl4pPr marL="1371341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4pPr>
    <a:lvl5pPr marL="182845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5pPr>
    <a:lvl6pPr marL="228556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6pPr>
    <a:lvl7pPr marL="2742679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7pPr>
    <a:lvl8pPr marL="3199794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8pPr>
    <a:lvl9pPr marL="3656907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9B0A0"/>
    <a:srgbClr val="72B0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94C632D-D3BD-C142-B93F-C90E6BDD7C20}" v="11" dt="2022-05-26T18:32:04.6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36"/>
    <p:restoredTop sz="84060"/>
  </p:normalViewPr>
  <p:slideViewPr>
    <p:cSldViewPr snapToGrid="0" snapToObjects="1">
      <p:cViewPr varScale="1">
        <p:scale>
          <a:sx n="107" d="100"/>
          <a:sy n="107" d="100"/>
        </p:scale>
        <p:origin x="944" y="1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7E5156-1B5D-054E-B5B2-E1B1BA160252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CBD60B-517C-4242-AE46-E1BD2D08654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7014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694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3884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082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776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470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647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859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553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84fd4040f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84fd4040f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84fd4040f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84fd4040f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8512a5c7e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8512a5c7e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84fd4040f6_0_2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84fd4040f6_0_2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84fd4040f6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84fd4040f6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84fd4040f6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84fd4040f6_0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84fd4040f6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84fd4040f6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84fd4040f6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84fd4040f6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84fd4040f6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384fd4040f6_0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84fd4040f6_0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84fd4040f6_0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84fd4040f6_0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84fd4040f6_0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84fd4040f6_0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84fd4040f6_0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84fd4040f6_0_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84fd4040f6_0_1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57937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84fd4040f6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84fd4040f6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8512a5c7e2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8512a5c7e2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8512a5c7e2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8512a5c7e2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8512a5c7e2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8512a5c7e2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get fastq/fasta data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8512a5c7e2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8512a5c7e2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8512a5c7e2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8512a5c7e2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84fd4040f6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84fd4040f6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38C73947-7933-1149-81E2-2A6481ACE834}"/>
              </a:ext>
            </a:extLst>
          </p:cNvPr>
          <p:cNvSpPr txBox="1">
            <a:spLocks/>
          </p:cNvSpPr>
          <p:nvPr userDrawn="1"/>
        </p:nvSpPr>
        <p:spPr>
          <a:xfrm>
            <a:off x="594015" y="1617135"/>
            <a:ext cx="7804150" cy="4863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CA" sz="2002" b="1" u="sng" dirty="0">
                <a:latin typeface="+mj-lt"/>
              </a:rPr>
              <a:t>Mission</a:t>
            </a:r>
            <a:r>
              <a:rPr lang="en-CA" sz="2002" dirty="0">
                <a:latin typeface="+mj-lt"/>
              </a:rPr>
              <a:t> : aims to deliver inter-disciplinary research programs and empower the use of data in health research and health care delivery</a:t>
            </a: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r>
              <a:rPr lang="en-CA" sz="1800" dirty="0">
                <a:latin typeface="+mj-lt"/>
              </a:rPr>
              <a:t>https://www.mcgill.ca/</a:t>
            </a:r>
            <a:r>
              <a:rPr lang="en-CA" sz="1800" dirty="0" err="1">
                <a:latin typeface="+mj-lt"/>
              </a:rPr>
              <a:t>micm</a:t>
            </a:r>
            <a:endParaRPr lang="en-CA" sz="1800" dirty="0">
              <a:latin typeface="+mj-lt"/>
            </a:endParaRPr>
          </a:p>
          <a:p>
            <a:endParaRPr lang="en-CA" sz="2002" dirty="0">
              <a:latin typeface="+mj-lt"/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E31CC8AE-4D70-174F-9C92-FBBC12BFB7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966642" y="2463795"/>
            <a:ext cx="4431523" cy="3522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083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3" y="6620940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11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86"/>
            <a:ext cx="4197350" cy="1012958"/>
          </a:xfrm>
          <a:prstGeom prst="rect">
            <a:avLst/>
          </a:prstGeom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469381-9221-664C-A297-50EE4CAEE0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1454228"/>
            <a:ext cx="8658743" cy="4924350"/>
          </a:xfrm>
        </p:spPr>
        <p:txBody>
          <a:bodyPr/>
          <a:lstStyle/>
          <a:p>
            <a:r>
              <a:rPr lang="fr-FR"/>
              <a:t>Modifier les styles du texte du masque
Deuxième niveau
Troisième niveau
Quatrième niveau
Cinquième niveau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2694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2401445-DB0B-D44D-B605-7A88A3BCC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0706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0829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71"/>
            <a:ext cx="7886700" cy="150018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088" indent="0">
              <a:buNone/>
              <a:defRPr sz="2002">
                <a:solidFill>
                  <a:schemeClr val="tx1">
                    <a:tint val="75000"/>
                  </a:schemeClr>
                </a:solidFill>
              </a:defRPr>
            </a:lvl2pPr>
            <a:lvl3pPr marL="9141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25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4pPr>
            <a:lvl5pPr marL="1828343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5pPr>
            <a:lvl6pPr marL="2285430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6pPr>
            <a:lvl7pPr marL="274251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7pPr>
            <a:lvl8pPr marL="319959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8pPr>
            <a:lvl9pPr marL="365668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1720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7"/>
            <a:ext cx="3886200" cy="4351335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7"/>
            <a:ext cx="3886200" cy="4351335"/>
          </a:xfrm>
        </p:spPr>
        <p:txBody>
          <a:bodyPr/>
          <a:lstStyle/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908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175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0274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31"/>
            <a:ext cx="4629150" cy="4873628"/>
          </a:xfrm>
        </p:spPr>
        <p:txBody>
          <a:bodyPr anchor="t"/>
          <a:lstStyle>
            <a:lvl1pPr marL="0" indent="0">
              <a:buNone/>
              <a:defRPr sz="3202"/>
            </a:lvl1pPr>
            <a:lvl2pPr marL="457088" indent="0">
              <a:buNone/>
              <a:defRPr sz="2798"/>
            </a:lvl2pPr>
            <a:lvl3pPr marL="914175" indent="0">
              <a:buNone/>
              <a:defRPr sz="2400"/>
            </a:lvl3pPr>
            <a:lvl4pPr marL="1371255" indent="0">
              <a:buNone/>
              <a:defRPr sz="2002"/>
            </a:lvl4pPr>
            <a:lvl5pPr marL="1828343" indent="0">
              <a:buNone/>
              <a:defRPr sz="2002"/>
            </a:lvl5pPr>
            <a:lvl6pPr marL="2285430" indent="0">
              <a:buNone/>
              <a:defRPr sz="2002"/>
            </a:lvl6pPr>
            <a:lvl7pPr marL="2742518" indent="0">
              <a:buNone/>
              <a:defRPr sz="2002"/>
            </a:lvl7pPr>
            <a:lvl8pPr marL="3199598" indent="0">
              <a:buNone/>
              <a:defRPr sz="2002"/>
            </a:lvl8pPr>
            <a:lvl9pPr marL="3656685" indent="0">
              <a:buNone/>
              <a:defRPr sz="2002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90"/>
          </a:xfrm>
        </p:spPr>
        <p:txBody>
          <a:bodyPr/>
          <a:lstStyle>
            <a:lvl1pPr marL="0" indent="0">
              <a:buNone/>
              <a:defRPr sz="1598"/>
            </a:lvl1pPr>
            <a:lvl2pPr marL="457088" indent="0">
              <a:buNone/>
              <a:defRPr sz="1403"/>
            </a:lvl2pPr>
            <a:lvl3pPr marL="914175" indent="0">
              <a:buNone/>
              <a:defRPr sz="1200"/>
            </a:lvl3pPr>
            <a:lvl4pPr marL="1371255" indent="0">
              <a:buNone/>
              <a:defRPr sz="998"/>
            </a:lvl4pPr>
            <a:lvl5pPr marL="1828343" indent="0">
              <a:buNone/>
              <a:defRPr sz="998"/>
            </a:lvl5pPr>
            <a:lvl6pPr marL="2285430" indent="0">
              <a:buNone/>
              <a:defRPr sz="998"/>
            </a:lvl6pPr>
            <a:lvl7pPr marL="2742518" indent="0">
              <a:buNone/>
              <a:defRPr sz="998"/>
            </a:lvl7pPr>
            <a:lvl8pPr marL="3199598" indent="0">
              <a:buNone/>
              <a:defRPr sz="998"/>
            </a:lvl8pPr>
            <a:lvl9pPr marL="3656685" indent="0">
              <a:buNone/>
              <a:defRPr sz="998"/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9933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6217623"/>
            <a:ext cx="5487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algn="r"/>
            <a:fld id="{00000000-1234-1234-1234-123412341234}" type="slidenum">
              <a:rPr lang="en" smtClean="0"/>
              <a:pPr algn="r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0337306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3"/>
            <a:ext cx="7886700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7"/>
            <a:ext cx="7886700" cy="4351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  <p:grpSp>
        <p:nvGrpSpPr>
          <p:cNvPr id="14" name="Group 11">
            <a:extLst>
              <a:ext uri="{FF2B5EF4-FFF2-40B4-BE49-F238E27FC236}">
                <a16:creationId xmlns:a16="http://schemas.microsoft.com/office/drawing/2014/main" id="{8ADF8589-063A-1546-8085-07B315CCB283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-2150" y="6790459"/>
            <a:ext cx="9200548" cy="90488"/>
            <a:chOff x="606161" y="2106824"/>
            <a:chExt cx="6205940" cy="124118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CD4AE55-E3E4-8E48-A531-035261AD147D}"/>
                </a:ext>
              </a:extLst>
            </p:cNvPr>
            <p:cNvSpPr/>
            <p:nvPr userDrawn="1"/>
          </p:nvSpPr>
          <p:spPr>
            <a:xfrm>
              <a:off x="606161" y="2106824"/>
              <a:ext cx="1241028" cy="12411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753BF61-1322-C642-81B1-2BEA6A9D7516}"/>
                </a:ext>
              </a:extLst>
            </p:cNvPr>
            <p:cNvSpPr/>
            <p:nvPr userDrawn="1"/>
          </p:nvSpPr>
          <p:spPr>
            <a:xfrm>
              <a:off x="1847189" y="2106824"/>
              <a:ext cx="1241429" cy="124118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05D8262-7348-B74A-B1E5-C429BF3920A3}"/>
                </a:ext>
              </a:extLst>
            </p:cNvPr>
            <p:cNvSpPr/>
            <p:nvPr userDrawn="1"/>
          </p:nvSpPr>
          <p:spPr>
            <a:xfrm>
              <a:off x="3088617" y="2106824"/>
              <a:ext cx="1241027" cy="124118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E6F6EB-C764-0142-9907-8F053728961D}"/>
                </a:ext>
              </a:extLst>
            </p:cNvPr>
            <p:cNvSpPr/>
            <p:nvPr userDrawn="1"/>
          </p:nvSpPr>
          <p:spPr>
            <a:xfrm>
              <a:off x="4329645" y="2106824"/>
              <a:ext cx="1241429" cy="124118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94EFFE0-7781-6F4A-8329-190CB533253E}"/>
                </a:ext>
              </a:extLst>
            </p:cNvPr>
            <p:cNvSpPr/>
            <p:nvPr userDrawn="1"/>
          </p:nvSpPr>
          <p:spPr>
            <a:xfrm>
              <a:off x="5571073" y="2106824"/>
              <a:ext cx="1241028" cy="124118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</p:grpSp>
      <p:pic>
        <p:nvPicPr>
          <p:cNvPr id="21" name="Image 20">
            <a:extLst>
              <a:ext uri="{FF2B5EF4-FFF2-40B4-BE49-F238E27FC236}">
                <a16:creationId xmlns:a16="http://schemas.microsoft.com/office/drawing/2014/main" id="{BBA76F50-A55F-9245-A363-154E7DFB1C4B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7384992" y="6411199"/>
            <a:ext cx="1759009" cy="42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374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0" r:id="rId2"/>
    <p:sldLayoutId id="2147483671" r:id="rId3"/>
    <p:sldLayoutId id="2147483662" r:id="rId4"/>
    <p:sldLayoutId id="2147483663" r:id="rId5"/>
    <p:sldLayoutId id="2147483664" r:id="rId6"/>
    <p:sldLayoutId id="2147483666" r:id="rId7"/>
    <p:sldLayoutId id="2147483667" r:id="rId8"/>
    <p:sldLayoutId id="2147483669" r:id="rId9"/>
    <p:sldLayoutId id="2147483673" r:id="rId10"/>
  </p:sldLayoutIdLst>
  <p:hf hdr="0" ftr="0" dt="0"/>
  <p:txStyles>
    <p:titleStyle>
      <a:lvl1pPr algn="l" defTabSz="914175" rtl="0" eaLnBrk="1" latinLnBrk="0" hangingPunct="1">
        <a:lnSpc>
          <a:spcPct val="90000"/>
        </a:lnSpc>
        <a:spcBef>
          <a:spcPct val="0"/>
        </a:spcBef>
        <a:buNone/>
        <a:defRPr sz="44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40" indent="-228540" algn="l" defTabSz="914175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2798" kern="1200">
          <a:solidFill>
            <a:schemeClr val="tx1"/>
          </a:solidFill>
          <a:latin typeface="+mn-lt"/>
          <a:ea typeface="+mn-ea"/>
          <a:cs typeface="+mn-cs"/>
        </a:defRPr>
      </a:lvl1pPr>
      <a:lvl2pPr marL="68562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71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002" kern="1200">
          <a:solidFill>
            <a:schemeClr val="tx1"/>
          </a:solidFill>
          <a:latin typeface="+mn-lt"/>
          <a:ea typeface="+mn-ea"/>
          <a:cs typeface="+mn-cs"/>
        </a:defRPr>
      </a:lvl3pPr>
      <a:lvl4pPr marL="159980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688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970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3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59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7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4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54;p13"/>
          <p:cNvSpPr txBox="1">
            <a:spLocks/>
          </p:cNvSpPr>
          <p:nvPr/>
        </p:nvSpPr>
        <p:spPr>
          <a:xfrm>
            <a:off x="930769" y="2402700"/>
            <a:ext cx="7282461" cy="20526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rmAutofit fontScale="82500" lnSpcReduction="20000"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5400" b="1" dirty="0"/>
              <a:t>Introduction to UNIX and RNA-seq Repositories</a:t>
            </a:r>
          </a:p>
          <a:p>
            <a:pPr algn="ctr"/>
            <a:endParaRPr lang="en-US" sz="5400" b="1" dirty="0"/>
          </a:p>
          <a:p>
            <a:pPr algn="ctr"/>
            <a:r>
              <a:rPr lang="en-US" sz="3400" b="1" dirty="0"/>
              <a:t>June 1</a:t>
            </a:r>
            <a:r>
              <a:rPr lang="en-US" sz="3400" b="1" baseline="30000" dirty="0"/>
              <a:t>st</a:t>
            </a:r>
            <a:r>
              <a:rPr lang="en-US" sz="3400" b="1" dirty="0"/>
              <a:t> 2026</a:t>
            </a:r>
          </a:p>
        </p:txBody>
      </p:sp>
      <p:pic>
        <p:nvPicPr>
          <p:cNvPr id="6" name="Picture 5" descr="A logo with text on it&#10;&#10;AI-generated content may be incorrect.">
            <a:extLst>
              <a:ext uri="{FF2B5EF4-FFF2-40B4-BE49-F238E27FC236}">
                <a16:creationId xmlns:a16="http://schemas.microsoft.com/office/drawing/2014/main" id="{F0EC9481-395F-B0B1-B078-0A75C9A387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666" y="5175361"/>
            <a:ext cx="4056488" cy="8966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5C05164-1C02-0048-11F3-08244347D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846" y="4661465"/>
            <a:ext cx="3483377" cy="1924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2491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129190"/>
            <a:ext cx="5968784" cy="5196844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>
              <a:buClr>
                <a:schemeClr val="dk1"/>
              </a:buClr>
            </a:pPr>
            <a:r>
              <a:rPr lang="en" sz="2400" dirty="0">
                <a:solidFill>
                  <a:schemeClr val="dk1"/>
                </a:solidFill>
              </a:rPr>
              <a:t>Setup &amp; Troubleshooting</a:t>
            </a:r>
            <a:endParaRPr sz="2400" dirty="0">
              <a:solidFill>
                <a:schemeClr val="dk1"/>
              </a:solidFill>
            </a:endParaRPr>
          </a:p>
          <a:p>
            <a:pPr lvl="1">
              <a:buClr>
                <a:schemeClr val="dk1"/>
              </a:buClr>
            </a:pPr>
            <a:r>
              <a:rPr lang="en" dirty="0">
                <a:solidFill>
                  <a:schemeClr val="dk1"/>
                </a:solidFill>
              </a:rPr>
              <a:t>UNIX availability check</a:t>
            </a:r>
            <a:endParaRPr dirty="0">
              <a:solidFill>
                <a:schemeClr val="dk1"/>
              </a:solidFill>
            </a:endParaRPr>
          </a:p>
          <a:p>
            <a:pPr lvl="1">
              <a:buClr>
                <a:schemeClr val="dk1"/>
              </a:buClr>
            </a:pPr>
            <a:r>
              <a:rPr lang="en" dirty="0">
                <a:solidFill>
                  <a:schemeClr val="dk1"/>
                </a:solidFill>
              </a:rPr>
              <a:t>Fix PATH / permissions</a:t>
            </a:r>
            <a:endParaRPr lang="en-US" sz="2400" dirty="0">
              <a:solidFill>
                <a:schemeClr val="dk1"/>
              </a:solidFill>
            </a:endParaRPr>
          </a:p>
          <a:p>
            <a:pPr>
              <a:lnSpc>
                <a:spcPct val="115000"/>
              </a:lnSpc>
              <a:spcBef>
                <a:spcPts val="1200"/>
              </a:spcBef>
              <a:buClr>
                <a:schemeClr val="dk1"/>
              </a:buClr>
            </a:pPr>
            <a:r>
              <a:rPr lang="en-US" sz="2400" dirty="0">
                <a:solidFill>
                  <a:schemeClr val="dk1"/>
                </a:solidFill>
              </a:rPr>
              <a:t>Module 1 — UNIX Basics</a:t>
            </a:r>
          </a:p>
          <a:p>
            <a:pPr lvl="1">
              <a:lnSpc>
                <a:spcPct val="115000"/>
              </a:lnSpc>
              <a:buClr>
                <a:schemeClr val="dk1"/>
              </a:buClr>
            </a:pPr>
            <a:r>
              <a:rPr lang="en-US" dirty="0">
                <a:solidFill>
                  <a:schemeClr val="dk1"/>
                </a:solidFill>
              </a:rPr>
              <a:t>File management and navigation</a:t>
            </a:r>
          </a:p>
          <a:p>
            <a:pPr lvl="1">
              <a:lnSpc>
                <a:spcPct val="115000"/>
              </a:lnSpc>
              <a:buClr>
                <a:schemeClr val="dk1"/>
              </a:buClr>
            </a:pPr>
            <a:r>
              <a:rPr lang="en-US" dirty="0">
                <a:solidFill>
                  <a:schemeClr val="dk1"/>
                </a:solidFill>
              </a:rPr>
              <a:t>File inspection</a:t>
            </a:r>
          </a:p>
          <a:p>
            <a:pPr lvl="1">
              <a:lnSpc>
                <a:spcPct val="115000"/>
              </a:lnSpc>
              <a:buClr>
                <a:schemeClr val="dk1"/>
              </a:buClr>
            </a:pPr>
            <a:r>
              <a:rPr lang="en-US" dirty="0">
                <a:solidFill>
                  <a:schemeClr val="dk1"/>
                </a:solidFill>
              </a:rPr>
              <a:t>Pipes and redirects</a:t>
            </a:r>
          </a:p>
          <a:p>
            <a:pPr lvl="1">
              <a:lnSpc>
                <a:spcPct val="115000"/>
              </a:lnSpc>
              <a:buClr>
                <a:schemeClr val="dk1"/>
              </a:buClr>
            </a:pPr>
            <a:r>
              <a:rPr lang="en-US" dirty="0">
                <a:solidFill>
                  <a:schemeClr val="dk1"/>
                </a:solidFill>
              </a:rPr>
              <a:t>Text search</a:t>
            </a:r>
            <a:endParaRPr sz="2400" dirty="0">
              <a:solidFill>
                <a:schemeClr val="dk1"/>
              </a:solidFill>
            </a:endParaRPr>
          </a:p>
          <a:p>
            <a:pPr>
              <a:spcBef>
                <a:spcPts val="1200"/>
              </a:spcBef>
              <a:buClr>
                <a:schemeClr val="dk1"/>
              </a:buClr>
            </a:pPr>
            <a:r>
              <a:rPr lang="en" sz="2400" dirty="0">
                <a:solidFill>
                  <a:schemeClr val="dk1"/>
                </a:solidFill>
              </a:rPr>
              <a:t>Module 2 — GEO Basics</a:t>
            </a:r>
            <a:endParaRPr sz="2400" dirty="0">
              <a:solidFill>
                <a:schemeClr val="dk1"/>
              </a:solidFill>
            </a:endParaRPr>
          </a:p>
          <a:p>
            <a:pPr lvl="1">
              <a:buClr>
                <a:schemeClr val="dk1"/>
              </a:buClr>
            </a:pPr>
            <a:r>
              <a:rPr lang="en" dirty="0">
                <a:solidFill>
                  <a:schemeClr val="dk1"/>
                </a:solidFill>
              </a:rPr>
              <a:t>Accession types</a:t>
            </a:r>
            <a:endParaRPr dirty="0">
              <a:solidFill>
                <a:schemeClr val="dk1"/>
              </a:solidFill>
            </a:endParaRPr>
          </a:p>
          <a:p>
            <a:pPr lvl="1">
              <a:buClr>
                <a:schemeClr val="dk1"/>
              </a:buClr>
            </a:pPr>
            <a:r>
              <a:rPr lang="en" dirty="0">
                <a:solidFill>
                  <a:schemeClr val="dk1"/>
                </a:solidFill>
              </a:rPr>
              <a:t>Common files</a:t>
            </a:r>
            <a:endParaRPr dirty="0">
              <a:solidFill>
                <a:schemeClr val="dk1"/>
              </a:solidFill>
            </a:endParaRPr>
          </a:p>
          <a:p>
            <a:pPr lvl="1">
              <a:buClr>
                <a:schemeClr val="dk1"/>
              </a:buClr>
            </a:pPr>
            <a:r>
              <a:rPr lang="en" dirty="0">
                <a:solidFill>
                  <a:schemeClr val="dk1"/>
                </a:solidFill>
              </a:rPr>
              <a:t>FTP/HTTPS &amp; Data Download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2" name="Google Shape;62;p14"/>
          <p:cNvSpPr txBox="1"/>
          <p:nvPr/>
        </p:nvSpPr>
        <p:spPr>
          <a:xfrm>
            <a:off x="311700" y="413990"/>
            <a:ext cx="7886700" cy="7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lnSpc>
                <a:spcPct val="90000"/>
              </a:lnSpc>
            </a:pPr>
            <a:r>
              <a:rPr lang="en" sz="3303" dirty="0">
                <a:latin typeface="Calibri"/>
                <a:ea typeface="Calibri"/>
                <a:cs typeface="Calibri"/>
                <a:sym typeface="Calibri"/>
              </a:rPr>
              <a:t>Outline</a:t>
            </a:r>
            <a:endParaRPr sz="3303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4"/>
          <p:cNvSpPr txBox="1">
            <a:spLocks noGrp="1"/>
          </p:cNvSpPr>
          <p:nvPr>
            <p:ph type="sldNum" idx="12"/>
          </p:nvPr>
        </p:nvSpPr>
        <p:spPr>
          <a:xfrm>
            <a:off x="8472458" y="55204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algn="r"/>
            <a:fld id="{00000000-1234-1234-1234-123412341234}" type="slidenum">
              <a:rPr lang="en"/>
              <a:pPr algn="r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>
            <a:spLocks noGrp="1"/>
          </p:cNvSpPr>
          <p:nvPr>
            <p:ph type="title"/>
          </p:nvPr>
        </p:nvSpPr>
        <p:spPr>
          <a:xfrm>
            <a:off x="311700" y="387871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90000"/>
          </a:bodyPr>
          <a:lstStyle/>
          <a:p>
            <a:r>
              <a:rPr lang="en" dirty="0"/>
              <a:t>Setup &amp; Troubleshooting</a:t>
            </a:r>
            <a:endParaRPr dirty="0"/>
          </a:p>
        </p:txBody>
      </p:sp>
      <p:sp>
        <p:nvSpPr>
          <p:cNvPr id="70" name="Google Shape;70;p15"/>
          <p:cNvSpPr txBox="1">
            <a:spLocks noGrp="1"/>
          </p:cNvSpPr>
          <p:nvPr>
            <p:ph type="sldNum" idx="12"/>
          </p:nvPr>
        </p:nvSpPr>
        <p:spPr>
          <a:xfrm>
            <a:off x="8472458" y="55204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algn="r"/>
            <a:fld id="{00000000-1234-1234-1234-123412341234}" type="slidenum">
              <a:rPr lang="en"/>
              <a:pPr algn="r"/>
              <a:t>3</a:t>
            </a:fld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311700" y="1553858"/>
            <a:ext cx="6664833" cy="1723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" sz="2000" i="1" dirty="0">
                <a:solidFill>
                  <a:schemeClr val="dk1"/>
                </a:solidFill>
              </a:rPr>
              <a:t>pwd</a:t>
            </a:r>
            <a:endParaRPr sz="2000" i="1" dirty="0">
              <a:solidFill>
                <a:schemeClr val="dk1"/>
              </a:solidFill>
            </a:endParaRPr>
          </a:p>
          <a:p>
            <a:r>
              <a:rPr lang="en" sz="2000" i="1" dirty="0">
                <a:solidFill>
                  <a:schemeClr val="dk1"/>
                </a:solidFill>
              </a:rPr>
              <a:t>mkdir -p ~/workshop/data &amp;&amp; cd ~/workshop</a:t>
            </a:r>
            <a:endParaRPr sz="2000" i="1" dirty="0">
              <a:solidFill>
                <a:schemeClr val="dk1"/>
              </a:solidFill>
            </a:endParaRPr>
          </a:p>
          <a:p>
            <a:r>
              <a:rPr lang="en" sz="2000" i="1" dirty="0">
                <a:solidFill>
                  <a:schemeClr val="dk1"/>
                </a:solidFill>
              </a:rPr>
              <a:t>which bash zsh curl wget gzip tar || true</a:t>
            </a:r>
            <a:endParaRPr sz="2000" i="1" dirty="0">
              <a:solidFill>
                <a:schemeClr val="dk1"/>
              </a:solidFill>
            </a:endParaRPr>
          </a:p>
          <a:p>
            <a:endParaRPr sz="2000" i="1" dirty="0">
              <a:solidFill>
                <a:schemeClr val="dk1"/>
              </a:solidFill>
            </a:endParaRPr>
          </a:p>
          <a:p>
            <a:endParaRPr sz="2000" i="1" dirty="0">
              <a:solidFill>
                <a:schemeClr val="dk1"/>
              </a:solidFill>
            </a:endParaRPr>
          </a:p>
        </p:txBody>
      </p:sp>
      <p:pic>
        <p:nvPicPr>
          <p:cNvPr id="72" name="Google Shape;72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7555" y="3254133"/>
            <a:ext cx="8444745" cy="2124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472458" y="55204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algn="r"/>
            <a:fld id="{00000000-1234-1234-1234-123412341234}" type="slidenum">
              <a:rPr lang="en"/>
              <a:pPr algn="r"/>
              <a:t>4</a:t>
            </a:fld>
            <a:endParaRPr/>
          </a:p>
        </p:txBody>
      </p:sp>
      <p:pic>
        <p:nvPicPr>
          <p:cNvPr id="78" name="Google Shape;78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399" y="2057676"/>
            <a:ext cx="8839201" cy="3500212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6"/>
          <p:cNvSpPr txBox="1"/>
          <p:nvPr/>
        </p:nvSpPr>
        <p:spPr>
          <a:xfrm>
            <a:off x="152400" y="448939"/>
            <a:ext cx="2605500" cy="1569630"/>
          </a:xfrm>
          <a:prstGeom prst="rect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" sz="1800" i="1">
                <a:solidFill>
                  <a:schemeClr val="dk1"/>
                </a:solidFill>
              </a:rPr>
              <a:t>wsl --install -d Ubuntu</a:t>
            </a:r>
            <a:endParaRPr sz="1800" i="1">
              <a:solidFill>
                <a:schemeClr val="dk1"/>
              </a:solidFill>
            </a:endParaRPr>
          </a:p>
          <a:p>
            <a:endParaRPr sz="1800" i="1">
              <a:solidFill>
                <a:schemeClr val="dk1"/>
              </a:solidFill>
            </a:endParaRPr>
          </a:p>
          <a:p>
            <a:r>
              <a:rPr lang="en" sz="1800" i="1">
                <a:solidFill>
                  <a:schemeClr val="dk1"/>
                </a:solidFill>
              </a:rPr>
              <a:t>wsl -l -v</a:t>
            </a:r>
            <a:endParaRPr sz="1800" i="1">
              <a:solidFill>
                <a:schemeClr val="dk1"/>
              </a:solidFill>
            </a:endParaRPr>
          </a:p>
          <a:p>
            <a:r>
              <a:rPr lang="en" sz="1800" i="1">
                <a:solidFill>
                  <a:schemeClr val="dk1"/>
                </a:solidFill>
              </a:rPr>
              <a:t>wsl -d Ubuntu</a:t>
            </a:r>
            <a:endParaRPr sz="1800" i="1">
              <a:solidFill>
                <a:schemeClr val="dk1"/>
              </a:solidFill>
            </a:endParaRPr>
          </a:p>
          <a:p>
            <a:r>
              <a:rPr lang="en" sz="1800" i="1">
                <a:solidFill>
                  <a:schemeClr val="dk1"/>
                </a:solidFill>
              </a:rPr>
              <a:t>exit or Ctrl+D → To exit</a:t>
            </a:r>
            <a:endParaRPr sz="1800" i="1">
              <a:solidFill>
                <a:schemeClr val="dk1"/>
              </a:solidFill>
            </a:endParaRPr>
          </a:p>
        </p:txBody>
      </p:sp>
      <p:sp>
        <p:nvSpPr>
          <p:cNvPr id="80" name="Google Shape;80;p16"/>
          <p:cNvSpPr txBox="1"/>
          <p:nvPr/>
        </p:nvSpPr>
        <p:spPr>
          <a:xfrm>
            <a:off x="3746000" y="485450"/>
            <a:ext cx="30000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" sz="1800" i="1">
                <a:solidFill>
                  <a:schemeClr val="dk1"/>
                </a:solidFill>
              </a:rPr>
              <a:t>wsl --unregister "Ubuntu"</a:t>
            </a:r>
            <a:endParaRPr sz="2000"/>
          </a:p>
        </p:txBody>
      </p:sp>
      <p:sp>
        <p:nvSpPr>
          <p:cNvPr id="81" name="Google Shape;81;p16"/>
          <p:cNvSpPr txBox="1"/>
          <p:nvPr/>
        </p:nvSpPr>
        <p:spPr>
          <a:xfrm>
            <a:off x="3746000" y="1203408"/>
            <a:ext cx="55623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" sz="1800" dirty="0">
                <a:solidFill>
                  <a:schemeClr val="dk1"/>
                </a:solidFill>
              </a:rPr>
              <a:t>sudo apt update -y</a:t>
            </a:r>
            <a:endParaRPr sz="1800" dirty="0">
              <a:solidFill>
                <a:schemeClr val="dk1"/>
              </a:solidFill>
            </a:endParaRPr>
          </a:p>
          <a:p>
            <a:r>
              <a:rPr lang="en" sz="1800" dirty="0">
                <a:solidFill>
                  <a:schemeClr val="dk1"/>
                </a:solidFill>
              </a:rPr>
              <a:t>sudo apt install -y curl wget gzip tar grep gawk sed</a:t>
            </a:r>
            <a:endParaRPr sz="1800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C6C48-7C00-AE30-47FF-4F7FAD781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6;p17">
            <a:extLst>
              <a:ext uri="{FF2B5EF4-FFF2-40B4-BE49-F238E27FC236}">
                <a16:creationId xmlns:a16="http://schemas.microsoft.com/office/drawing/2014/main" id="{D1DE8120-3500-D1C9-EC25-F555E3DDB101}"/>
              </a:ext>
            </a:extLst>
          </p:cNvPr>
          <p:cNvSpPr txBox="1">
            <a:spLocks/>
          </p:cNvSpPr>
          <p:nvPr/>
        </p:nvSpPr>
        <p:spPr>
          <a:xfrm>
            <a:off x="477150" y="2403450"/>
            <a:ext cx="8346300" cy="1814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600" dirty="0">
                <a:solidFill>
                  <a:schemeClr val="dk1"/>
                </a:solidFill>
              </a:rPr>
              <a:t>Module 1</a:t>
            </a:r>
          </a:p>
          <a:p>
            <a:pPr marL="0" indent="0" algn="ctr">
              <a:spcBef>
                <a:spcPts val="1200"/>
              </a:spcBef>
              <a:buFont typeface="Arial" panose="020B0604020202020204" pitchFamily="34" charset="0"/>
              <a:buNone/>
            </a:pPr>
            <a:r>
              <a:rPr lang="en-US" sz="4800" dirty="0">
                <a:solidFill>
                  <a:schemeClr val="dk1"/>
                </a:solidFill>
              </a:rPr>
              <a:t>UNIX Basics</a:t>
            </a:r>
          </a:p>
          <a:p>
            <a:pPr marL="0" indent="0" algn="ctr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sz="48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86883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8"/>
          <p:cNvSpPr txBox="1">
            <a:spLocks noGrp="1"/>
          </p:cNvSpPr>
          <p:nvPr>
            <p:ph type="sldNum" idx="12"/>
          </p:nvPr>
        </p:nvSpPr>
        <p:spPr>
          <a:xfrm>
            <a:off x="8472458" y="55204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algn="r"/>
            <a:fld id="{00000000-1234-1234-1234-123412341234}" type="slidenum">
              <a:rPr lang="en"/>
              <a:pPr algn="r"/>
              <a:t>6</a:t>
            </a:fld>
            <a:endParaRPr/>
          </a:p>
        </p:txBody>
      </p:sp>
      <p:pic>
        <p:nvPicPr>
          <p:cNvPr id="164" name="Google Shape;16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5845" y="356316"/>
            <a:ext cx="7952310" cy="5492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4938" y="1058176"/>
            <a:ext cx="7854120" cy="4838699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9"/>
          <p:cNvSpPr txBox="1">
            <a:spLocks noGrp="1"/>
          </p:cNvSpPr>
          <p:nvPr>
            <p:ph type="sldNum" idx="12"/>
          </p:nvPr>
        </p:nvSpPr>
        <p:spPr>
          <a:xfrm>
            <a:off x="8472458" y="55204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algn="r"/>
            <a:fld id="{00000000-1234-1234-1234-123412341234}" type="slidenum">
              <a:rPr lang="en"/>
              <a:pPr algn="r"/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0"/>
          <p:cNvSpPr txBox="1">
            <a:spLocks noGrp="1"/>
          </p:cNvSpPr>
          <p:nvPr>
            <p:ph type="sldNum" idx="12"/>
          </p:nvPr>
        </p:nvSpPr>
        <p:spPr>
          <a:xfrm>
            <a:off x="8472458" y="55204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algn="r"/>
            <a:fld id="{00000000-1234-1234-1234-123412341234}" type="slidenum">
              <a:rPr lang="en"/>
              <a:pPr algn="r"/>
              <a:t>8</a:t>
            </a:fld>
            <a:endParaRPr/>
          </a:p>
        </p:txBody>
      </p:sp>
      <p:pic>
        <p:nvPicPr>
          <p:cNvPr id="176" name="Google Shape;176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4900" y="1249789"/>
            <a:ext cx="8094202" cy="43584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1"/>
          <p:cNvSpPr txBox="1">
            <a:spLocks noGrp="1"/>
          </p:cNvSpPr>
          <p:nvPr>
            <p:ph type="sldNum" idx="12"/>
          </p:nvPr>
        </p:nvSpPr>
        <p:spPr>
          <a:xfrm>
            <a:off x="8472458" y="55204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algn="r"/>
            <a:fld id="{00000000-1234-1234-1234-123412341234}" type="slidenum">
              <a:rPr lang="en"/>
              <a:pPr algn="r"/>
              <a:t>9</a:t>
            </a:fld>
            <a:endParaRPr/>
          </a:p>
        </p:txBody>
      </p:sp>
      <p:pic>
        <p:nvPicPr>
          <p:cNvPr id="182" name="Google Shape;182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988" y="1009650"/>
            <a:ext cx="7506016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8682E-E87B-38E8-E672-835E5EA50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File management &amp; navigation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3C195-8954-8FB0-A9FB-3A551EE2DDE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00000000-1234-1234-1234-123412341234}" type="slidenum">
              <a:rPr lang="en" smtClean="0"/>
              <a:pPr algn="r"/>
              <a:t>10</a:t>
            </a:fld>
            <a:endParaRPr lang="e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9E12DD-74AA-2BA1-D8E5-17B85F07F8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877" y="2196104"/>
            <a:ext cx="7200246" cy="3746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1229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3"/>
          <p:cNvSpPr txBox="1">
            <a:spLocks noGrp="1"/>
          </p:cNvSpPr>
          <p:nvPr>
            <p:ph type="sldNum" idx="12"/>
          </p:nvPr>
        </p:nvSpPr>
        <p:spPr>
          <a:xfrm>
            <a:off x="8472458" y="55204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algn="r"/>
            <a:fld id="{00000000-1234-1234-1234-123412341234}" type="slidenum">
              <a:rPr lang="en"/>
              <a:pPr algn="r"/>
              <a:t>11</a:t>
            </a:fld>
            <a:endParaRPr/>
          </a:p>
        </p:txBody>
      </p:sp>
      <p:pic>
        <p:nvPicPr>
          <p:cNvPr id="194" name="Google Shape;194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4001" y="1009650"/>
            <a:ext cx="6895993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7"/>
          <p:cNvSpPr txBox="1">
            <a:spLocks noGrp="1"/>
          </p:cNvSpPr>
          <p:nvPr>
            <p:ph type="sldNum" idx="12"/>
          </p:nvPr>
        </p:nvSpPr>
        <p:spPr>
          <a:xfrm>
            <a:off x="8472458" y="55204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algn="r"/>
            <a:fld id="{00000000-1234-1234-1234-123412341234}" type="slidenum">
              <a:rPr lang="en"/>
              <a:pPr algn="r"/>
              <a:t>12</a:t>
            </a:fld>
            <a:endParaRPr/>
          </a:p>
        </p:txBody>
      </p:sp>
      <p:pic>
        <p:nvPicPr>
          <p:cNvPr id="218" name="Google Shape;21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2950" y="1009651"/>
            <a:ext cx="7038108" cy="483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367CF-9A0F-7E2E-30DB-DDA932764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500" b="1" dirty="0"/>
              <a:t>File inspection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73B95F-A7B6-09BE-4B8B-C829D58E78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00000000-1234-1234-1234-123412341234}" type="slidenum">
              <a:rPr lang="en" smtClean="0"/>
              <a:pPr algn="r"/>
              <a:t>13</a:t>
            </a:fld>
            <a:endParaRPr lang="e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02AC2D-D106-2189-B388-55DDDC8AEC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00" y="1495979"/>
            <a:ext cx="4652186" cy="1797747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79F6D7FE-2272-65AB-B679-14977D533D5E}"/>
              </a:ext>
            </a:extLst>
          </p:cNvPr>
          <p:cNvSpPr txBox="1">
            <a:spLocks/>
          </p:cNvSpPr>
          <p:nvPr/>
        </p:nvSpPr>
        <p:spPr>
          <a:xfrm>
            <a:off x="311700" y="3564275"/>
            <a:ext cx="8520600" cy="7636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97500"/>
          </a:bodyPr>
          <a:lstStyle>
            <a:lvl1pPr lvl="0" algn="l" defTabSz="914175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sz="3600" b="1" dirty="0"/>
              <a:t>Pipes and redirects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3564952-89D1-0857-E47F-DD630F9EC1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4327875"/>
            <a:ext cx="6706797" cy="1597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1609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6C66E-74B3-56F2-5960-CF2AAC6C5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>
            <a:extLst>
              <a:ext uri="{FF2B5EF4-FFF2-40B4-BE49-F238E27FC236}">
                <a16:creationId xmlns:a16="http://schemas.microsoft.com/office/drawing/2014/main" id="{A11DAE33-5EF7-1DEF-A83A-E405CCB9CF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30227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>
              <a:buClr>
                <a:schemeClr val="dk1"/>
              </a:buClr>
              <a:buSzPct val="39285"/>
            </a:pPr>
            <a:r>
              <a:rPr lang="en" sz="4000" dirty="0"/>
              <a:t>Exercise 1</a:t>
            </a:r>
            <a:endParaRPr sz="4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79274E-E015-B047-D331-9A99EEE598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00" y="2313807"/>
            <a:ext cx="7186380" cy="3342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2489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4"/>
          <p:cNvSpPr txBox="1">
            <a:spLocks noGrp="1"/>
          </p:cNvSpPr>
          <p:nvPr>
            <p:ph type="sldNum" idx="12"/>
          </p:nvPr>
        </p:nvSpPr>
        <p:spPr>
          <a:xfrm>
            <a:off x="8472458" y="55204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algn="r"/>
            <a:fld id="{00000000-1234-1234-1234-123412341234}" type="slidenum">
              <a:rPr lang="en"/>
              <a:pPr algn="r"/>
              <a:t>15</a:t>
            </a:fld>
            <a:endParaRPr/>
          </a:p>
        </p:txBody>
      </p:sp>
      <p:pic>
        <p:nvPicPr>
          <p:cNvPr id="261" name="Google Shape;261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3026" y="1162051"/>
            <a:ext cx="7317959" cy="4838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5"/>
          <p:cNvSpPr txBox="1">
            <a:spLocks noGrp="1"/>
          </p:cNvSpPr>
          <p:nvPr>
            <p:ph type="sldNum" idx="12"/>
          </p:nvPr>
        </p:nvSpPr>
        <p:spPr>
          <a:xfrm>
            <a:off x="8472458" y="55204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algn="r"/>
            <a:fld id="{00000000-1234-1234-1234-123412341234}" type="slidenum">
              <a:rPr lang="en"/>
              <a:pPr algn="r"/>
              <a:t>16</a:t>
            </a:fld>
            <a:endParaRPr/>
          </a:p>
        </p:txBody>
      </p:sp>
      <p:pic>
        <p:nvPicPr>
          <p:cNvPr id="267" name="Google Shape;267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5126" y="1009650"/>
            <a:ext cx="6873749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6"/>
          <p:cNvSpPr txBox="1">
            <a:spLocks noGrp="1"/>
          </p:cNvSpPr>
          <p:nvPr>
            <p:ph type="sldNum" idx="12"/>
          </p:nvPr>
        </p:nvSpPr>
        <p:spPr>
          <a:xfrm>
            <a:off x="8472458" y="55204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algn="r"/>
            <a:fld id="{00000000-1234-1234-1234-123412341234}" type="slidenum">
              <a:rPr lang="en"/>
              <a:pPr algn="r"/>
              <a:t>17</a:t>
            </a:fld>
            <a:endParaRPr/>
          </a:p>
        </p:txBody>
      </p:sp>
      <p:pic>
        <p:nvPicPr>
          <p:cNvPr id="273" name="Google Shape;273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4676" y="1009650"/>
            <a:ext cx="7334641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7"/>
          <p:cNvSpPr txBox="1">
            <a:spLocks noGrp="1"/>
          </p:cNvSpPr>
          <p:nvPr>
            <p:ph type="sldNum" idx="12"/>
          </p:nvPr>
        </p:nvSpPr>
        <p:spPr>
          <a:xfrm>
            <a:off x="8472458" y="55204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algn="r"/>
            <a:fld id="{00000000-1234-1234-1234-123412341234}" type="slidenum">
              <a:rPr lang="en"/>
              <a:pPr algn="r"/>
              <a:t>18</a:t>
            </a:fld>
            <a:endParaRPr/>
          </a:p>
        </p:txBody>
      </p:sp>
      <p:pic>
        <p:nvPicPr>
          <p:cNvPr id="279" name="Google Shape;279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0963" y="1009651"/>
            <a:ext cx="7222074" cy="483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CDF08-8752-AB23-2564-60CCB6D05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54">
            <a:extLst>
              <a:ext uri="{FF2B5EF4-FFF2-40B4-BE49-F238E27FC236}">
                <a16:creationId xmlns:a16="http://schemas.microsoft.com/office/drawing/2014/main" id="{042773E0-FDCD-561B-0704-541D8E7DB870}"/>
              </a:ext>
            </a:extLst>
          </p:cNvPr>
          <p:cNvSpPr txBox="1">
            <a:spLocks/>
          </p:cNvSpPr>
          <p:nvPr/>
        </p:nvSpPr>
        <p:spPr>
          <a:xfrm>
            <a:off x="311700" y="130227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60000" lnSpcReduction="20000"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Exercise 3.1</a:t>
            </a:r>
          </a:p>
        </p:txBody>
      </p:sp>
      <p:sp>
        <p:nvSpPr>
          <p:cNvPr id="309" name="Google Shape;309;p52"/>
          <p:cNvSpPr txBox="1">
            <a:spLocks/>
          </p:cNvSpPr>
          <p:nvPr/>
        </p:nvSpPr>
        <p:spPr>
          <a:xfrm>
            <a:off x="311700" y="1874974"/>
            <a:ext cx="8520600" cy="457098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120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chemeClr val="dk1"/>
                </a:solidFill>
              </a:rPr>
              <a:t>1. Preview &amp; row count (</a:t>
            </a:r>
            <a:r>
              <a:rPr lang="en-US" sz="1200" i="1" dirty="0" err="1">
                <a:solidFill>
                  <a:schemeClr val="dk1"/>
                </a:solidFill>
              </a:rPr>
              <a:t>zcat</a:t>
            </a:r>
            <a:r>
              <a:rPr lang="en-US" sz="1200" i="1" dirty="0">
                <a:solidFill>
                  <a:schemeClr val="dk1"/>
                </a:solidFill>
              </a:rPr>
              <a:t>/ </a:t>
            </a:r>
            <a:r>
              <a:rPr lang="en-US" sz="1200" i="1" dirty="0" err="1">
                <a:solidFill>
                  <a:schemeClr val="dk1"/>
                </a:solidFill>
              </a:rPr>
              <a:t>gunzip</a:t>
            </a:r>
            <a:r>
              <a:rPr lang="en-US" sz="1200" dirty="0">
                <a:solidFill>
                  <a:schemeClr val="dk1"/>
                </a:solidFill>
              </a:rPr>
              <a:t>)</a:t>
            </a:r>
          </a:p>
          <a:p>
            <a:pPr indent="-298450">
              <a:spcBef>
                <a:spcPts val="1200"/>
              </a:spcBef>
              <a:buClr>
                <a:schemeClr val="dk1"/>
              </a:buClr>
              <a:buSzPts val="1100"/>
            </a:pPr>
            <a:r>
              <a:rPr lang="en-US" sz="1200" dirty="0">
                <a:solidFill>
                  <a:schemeClr val="dk1"/>
                </a:solidFill>
              </a:rPr>
              <a:t>Show the first 10 and last 5 lines.</a:t>
            </a:r>
          </a:p>
          <a:p>
            <a:pPr indent="-298450">
              <a:buClr>
                <a:schemeClr val="dk1"/>
              </a:buClr>
              <a:buSzPts val="1100"/>
            </a:pPr>
            <a:r>
              <a:rPr lang="en-US" sz="1200" dirty="0">
                <a:solidFill>
                  <a:schemeClr val="dk1"/>
                </a:solidFill>
              </a:rPr>
              <a:t>Report the number of data rows (exclude header).</a:t>
            </a:r>
          </a:p>
          <a:p>
            <a:pPr marL="0" indent="0">
              <a:spcBef>
                <a:spcPts val="120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chemeClr val="dk1"/>
                </a:solidFill>
              </a:rPr>
              <a:t>2. Print the header with column indices so you can choose sample columns.</a:t>
            </a:r>
          </a:p>
          <a:p>
            <a:pPr marL="0" indent="0">
              <a:spcBef>
                <a:spcPts val="1200"/>
              </a:spcBef>
              <a:buFont typeface="Arial" panose="020B0604020202020204" pitchFamily="34" charset="0"/>
              <a:buNone/>
            </a:pPr>
            <a:r>
              <a:rPr lang="en-US" sz="1200" i="1" dirty="0" err="1">
                <a:solidFill>
                  <a:schemeClr val="dk1"/>
                </a:solidFill>
              </a:rPr>
              <a:t>zcat</a:t>
            </a:r>
            <a:r>
              <a:rPr lang="en-US" sz="1200" i="1" dirty="0">
                <a:solidFill>
                  <a:schemeClr val="dk1"/>
                </a:solidFill>
              </a:rPr>
              <a:t> GSE251845_htseq_raw_counts.csv.gz | head -n 1 | awk -F',' '{for(</a:t>
            </a:r>
            <a:r>
              <a:rPr lang="en-US" sz="1200" i="1" dirty="0" err="1">
                <a:solidFill>
                  <a:schemeClr val="dk1"/>
                </a:solidFill>
              </a:rPr>
              <a:t>i</a:t>
            </a:r>
            <a:r>
              <a:rPr lang="en-US" sz="1200" i="1" dirty="0">
                <a:solidFill>
                  <a:schemeClr val="dk1"/>
                </a:solidFill>
              </a:rPr>
              <a:t>=1;i&lt;=</a:t>
            </a:r>
            <a:r>
              <a:rPr lang="en-US" sz="1200" i="1" dirty="0" err="1">
                <a:solidFill>
                  <a:schemeClr val="dk1"/>
                </a:solidFill>
              </a:rPr>
              <a:t>NF;i</a:t>
            </a:r>
            <a:r>
              <a:rPr lang="en-US" sz="1200" i="1" dirty="0">
                <a:solidFill>
                  <a:schemeClr val="dk1"/>
                </a:solidFill>
              </a:rPr>
              <a:t>++) </a:t>
            </a:r>
            <a:r>
              <a:rPr lang="en-US" sz="1200" i="1" dirty="0" err="1">
                <a:solidFill>
                  <a:schemeClr val="dk1"/>
                </a:solidFill>
              </a:rPr>
              <a:t>printf</a:t>
            </a:r>
            <a:r>
              <a:rPr lang="en-US" sz="1200" i="1" dirty="0">
                <a:solidFill>
                  <a:schemeClr val="dk1"/>
                </a:solidFill>
              </a:rPr>
              <a:t>("%d\</a:t>
            </a:r>
            <a:r>
              <a:rPr lang="en-US" sz="1200" i="1" dirty="0" err="1">
                <a:solidFill>
                  <a:schemeClr val="dk1"/>
                </a:solidFill>
              </a:rPr>
              <a:t>t%s</a:t>
            </a:r>
            <a:r>
              <a:rPr lang="en-US" sz="1200" i="1" dirty="0">
                <a:solidFill>
                  <a:schemeClr val="dk1"/>
                </a:solidFill>
              </a:rPr>
              <a:t>\n", </a:t>
            </a:r>
            <a:r>
              <a:rPr lang="en-US" sz="1200" i="1" dirty="0" err="1">
                <a:solidFill>
                  <a:schemeClr val="dk1"/>
                </a:solidFill>
              </a:rPr>
              <a:t>i</a:t>
            </a:r>
            <a:r>
              <a:rPr lang="en-US" sz="1200" i="1" dirty="0">
                <a:solidFill>
                  <a:schemeClr val="dk1"/>
                </a:solidFill>
              </a:rPr>
              <a:t>, $</a:t>
            </a:r>
            <a:r>
              <a:rPr lang="en-US" sz="1200" i="1" dirty="0" err="1">
                <a:solidFill>
                  <a:schemeClr val="dk1"/>
                </a:solidFill>
              </a:rPr>
              <a:t>i</a:t>
            </a:r>
            <a:r>
              <a:rPr lang="en-US" sz="1200" i="1" dirty="0">
                <a:solidFill>
                  <a:schemeClr val="dk1"/>
                </a:solidFill>
              </a:rPr>
              <a:t>)}'</a:t>
            </a:r>
          </a:p>
          <a:p>
            <a:pPr marL="0" indent="0">
              <a:spcBef>
                <a:spcPts val="1200"/>
              </a:spcBef>
              <a:buFont typeface="Arial" panose="020B0604020202020204" pitchFamily="34" charset="0"/>
              <a:buNone/>
            </a:pPr>
            <a:endParaRPr lang="en-US" sz="1200" dirty="0">
              <a:solidFill>
                <a:schemeClr val="dk1"/>
              </a:solidFill>
            </a:endParaRPr>
          </a:p>
          <a:p>
            <a:pPr marL="0" indent="0">
              <a:spcBef>
                <a:spcPts val="1200"/>
              </a:spcBef>
              <a:buFont typeface="Arial" panose="020B0604020202020204" pitchFamily="34" charset="0"/>
              <a:buNone/>
            </a:pPr>
            <a:endParaRPr lang="en-US" sz="1200" dirty="0">
              <a:solidFill>
                <a:schemeClr val="dk1"/>
              </a:solidFill>
            </a:endParaRPr>
          </a:p>
          <a:p>
            <a:pPr marL="0" indent="0">
              <a:spcBef>
                <a:spcPts val="1200"/>
              </a:spcBef>
              <a:buFont typeface="Arial" panose="020B0604020202020204" pitchFamily="34" charset="0"/>
              <a:buNone/>
            </a:pPr>
            <a:endParaRPr lang="en-US" sz="1200" dirty="0">
              <a:solidFill>
                <a:schemeClr val="dk1"/>
              </a:solidFill>
            </a:endParaRPr>
          </a:p>
          <a:p>
            <a:pPr marL="0" indent="0">
              <a:spcBef>
                <a:spcPts val="120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chemeClr val="dk1"/>
                </a:solidFill>
              </a:rPr>
              <a:t>3. Pick &amp; extract</a:t>
            </a:r>
          </a:p>
          <a:p>
            <a:pPr indent="-298450">
              <a:spcBef>
                <a:spcPts val="1200"/>
              </a:spcBef>
              <a:buClr>
                <a:schemeClr val="dk1"/>
              </a:buClr>
              <a:buSzPts val="1100"/>
            </a:pPr>
            <a:r>
              <a:rPr lang="en-US" sz="1200" dirty="0">
                <a:solidFill>
                  <a:schemeClr val="dk1"/>
                </a:solidFill>
              </a:rPr>
              <a:t>Choose two sample columns (your choice) plus the gene ID column.</a:t>
            </a:r>
          </a:p>
          <a:p>
            <a:pPr indent="-298450">
              <a:buClr>
                <a:schemeClr val="dk1"/>
              </a:buClr>
              <a:buSzPts val="1100"/>
            </a:pPr>
            <a:r>
              <a:rPr lang="en-US" sz="1200" dirty="0">
                <a:solidFill>
                  <a:schemeClr val="dk1"/>
                </a:solidFill>
              </a:rPr>
              <a:t>Save to </a:t>
            </a:r>
            <a:r>
              <a:rPr lang="en-US" sz="12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subset_cols.csv</a:t>
            </a:r>
            <a:r>
              <a:rPr lang="en-US" sz="1200" dirty="0">
                <a:solidFill>
                  <a:schemeClr val="dk1"/>
                </a:solidFill>
              </a:rPr>
              <a:t>.</a:t>
            </a:r>
          </a:p>
          <a:p>
            <a:pPr marL="0" indent="0">
              <a:spcBef>
                <a:spcPts val="1200"/>
              </a:spcBef>
              <a:buFont typeface="Arial" panose="020B0604020202020204" pitchFamily="34" charset="0"/>
              <a:buNone/>
            </a:pPr>
            <a:r>
              <a:rPr lang="en-US" sz="1200" dirty="0">
                <a:solidFill>
                  <a:schemeClr val="dk1"/>
                </a:solidFill>
              </a:rPr>
              <a:t>4. Sort (</a:t>
            </a:r>
            <a:r>
              <a:rPr lang="en-US" sz="1200" i="1" dirty="0">
                <a:solidFill>
                  <a:schemeClr val="dk1"/>
                </a:solidFill>
              </a:rPr>
              <a:t>sort -t',' -k3,3nr)</a:t>
            </a:r>
            <a:endParaRPr lang="en-US" sz="1200" dirty="0">
              <a:solidFill>
                <a:schemeClr val="dk1"/>
              </a:solidFill>
            </a:endParaRPr>
          </a:p>
          <a:p>
            <a:pPr indent="-298450">
              <a:spcBef>
                <a:spcPts val="1200"/>
              </a:spcBef>
              <a:buClr>
                <a:schemeClr val="dk1"/>
              </a:buClr>
              <a:buSzPts val="1100"/>
            </a:pPr>
            <a:r>
              <a:rPr lang="en-US" sz="1200" dirty="0">
                <a:solidFill>
                  <a:schemeClr val="dk1"/>
                </a:solidFill>
              </a:rPr>
              <a:t>Sort </a:t>
            </a:r>
            <a:r>
              <a:rPr lang="en-US" sz="12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subset_cols.csv</a:t>
            </a:r>
            <a:r>
              <a:rPr lang="en-US" sz="1200" dirty="0">
                <a:solidFill>
                  <a:schemeClr val="dk1"/>
                </a:solidFill>
              </a:rPr>
              <a:t> descending by one of your sample columns.</a:t>
            </a:r>
          </a:p>
          <a:p>
            <a:pPr indent="-298450">
              <a:buClr>
                <a:schemeClr val="dk1"/>
              </a:buClr>
              <a:buSzPts val="1100"/>
            </a:pPr>
            <a:r>
              <a:rPr lang="en-US" sz="1200" dirty="0">
                <a:solidFill>
                  <a:schemeClr val="dk1"/>
                </a:solidFill>
              </a:rPr>
              <a:t>Keep the header; save as </a:t>
            </a:r>
            <a:r>
              <a:rPr lang="en-US" sz="12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sorted_subset.csv</a:t>
            </a:r>
            <a:r>
              <a:rPr lang="en-US" sz="1200" dirty="0">
                <a:solidFill>
                  <a:schemeClr val="dk1"/>
                </a:solidFill>
              </a:rPr>
              <a:t>.</a:t>
            </a:r>
          </a:p>
        </p:txBody>
      </p:sp>
      <p:pic>
        <p:nvPicPr>
          <p:cNvPr id="311" name="Google Shape;311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03013" y="3704865"/>
            <a:ext cx="8137973" cy="6129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357805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09E44-29B8-CE8D-9F1E-F4E973A28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54">
            <a:extLst>
              <a:ext uri="{FF2B5EF4-FFF2-40B4-BE49-F238E27FC236}">
                <a16:creationId xmlns:a16="http://schemas.microsoft.com/office/drawing/2014/main" id="{C6653E2E-B484-CEC2-E108-37B9A193EF46}"/>
              </a:ext>
            </a:extLst>
          </p:cNvPr>
          <p:cNvSpPr txBox="1">
            <a:spLocks/>
          </p:cNvSpPr>
          <p:nvPr/>
        </p:nvSpPr>
        <p:spPr>
          <a:xfrm>
            <a:off x="311700" y="130227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60000" lnSpcReduction="20000"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Exercise 3.1</a:t>
            </a:r>
          </a:p>
        </p:txBody>
      </p:sp>
      <p:sp>
        <p:nvSpPr>
          <p:cNvPr id="317" name="Google Shape;317;p53"/>
          <p:cNvSpPr txBox="1">
            <a:spLocks/>
          </p:cNvSpPr>
          <p:nvPr/>
        </p:nvSpPr>
        <p:spPr>
          <a:xfrm>
            <a:off x="311700" y="2009725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dk1"/>
              </a:buClr>
              <a:buSzPts val="1100"/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dk1"/>
                </a:solidFill>
              </a:rPr>
              <a:t>5. Low-information checks</a:t>
            </a:r>
          </a:p>
          <a:p>
            <a:pPr>
              <a:buClr>
                <a:schemeClr val="dk1"/>
              </a:buClr>
              <a:buSzPts val="1100"/>
            </a:pPr>
            <a:r>
              <a:rPr lang="en-US" sz="1800" dirty="0">
                <a:solidFill>
                  <a:schemeClr val="dk1"/>
                </a:solidFill>
              </a:rPr>
              <a:t>ANY-zero genes: genes with at least one zero across samples.</a:t>
            </a:r>
          </a:p>
          <a:p>
            <a:pPr marL="0" indent="0">
              <a:buClr>
                <a:schemeClr val="dk1"/>
              </a:buClr>
              <a:buSzPts val="1100"/>
              <a:buNone/>
            </a:pPr>
            <a:r>
              <a:rPr lang="en-US" sz="1800" i="1" dirty="0">
                <a:solidFill>
                  <a:schemeClr val="dk1"/>
                </a:solidFill>
              </a:rPr>
              <a:t>awk -F',' 'NR&gt;1 &amp;&amp; ($2==0 || $3==0){</a:t>
            </a:r>
            <a:r>
              <a:rPr lang="en-US" sz="1800" i="1" dirty="0" err="1">
                <a:solidFill>
                  <a:schemeClr val="dk1"/>
                </a:solidFill>
              </a:rPr>
              <a:t>c++</a:t>
            </a:r>
            <a:r>
              <a:rPr lang="en-US" sz="1800" i="1" dirty="0">
                <a:solidFill>
                  <a:schemeClr val="dk1"/>
                </a:solidFill>
              </a:rPr>
              <a:t>} END{print c}'   # ANY-zero</a:t>
            </a:r>
            <a:endParaRPr lang="en-US" sz="1800" dirty="0">
              <a:solidFill>
                <a:schemeClr val="dk1"/>
              </a:solidFill>
            </a:endParaRPr>
          </a:p>
          <a:p>
            <a:pPr>
              <a:buClr>
                <a:schemeClr val="dk1"/>
              </a:buClr>
              <a:buSzPts val="1100"/>
            </a:pPr>
            <a:r>
              <a:rPr lang="en-US" sz="1800" dirty="0">
                <a:solidFill>
                  <a:schemeClr val="dk1"/>
                </a:solidFill>
              </a:rPr>
              <a:t>ALL-zero genes: genes with all zeros across samples.</a:t>
            </a:r>
          </a:p>
          <a:p>
            <a:pPr>
              <a:buClr>
                <a:schemeClr val="dk1"/>
              </a:buClr>
              <a:buSzPts val="1100"/>
            </a:pPr>
            <a:r>
              <a:rPr lang="en-US" sz="1800" dirty="0">
                <a:solidFill>
                  <a:schemeClr val="dk1"/>
                </a:solidFill>
              </a:rPr>
              <a:t>Also report highly expressed genes for one chosen sample column (e.g., counts ≥ 1000).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sz="18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52384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54"/>
          <p:cNvSpPr txBox="1">
            <a:spLocks/>
          </p:cNvSpPr>
          <p:nvPr/>
        </p:nvSpPr>
        <p:spPr>
          <a:xfrm>
            <a:off x="311700" y="130227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60000" lnSpcReduction="20000"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Exercise 3.2</a:t>
            </a:r>
            <a:endParaRPr lang="en-US" dirty="0"/>
          </a:p>
        </p:txBody>
      </p:sp>
      <p:sp>
        <p:nvSpPr>
          <p:cNvPr id="324" name="Google Shape;324;p54"/>
          <p:cNvSpPr txBox="1">
            <a:spLocks/>
          </p:cNvSpPr>
          <p:nvPr/>
        </p:nvSpPr>
        <p:spPr>
          <a:xfrm>
            <a:off x="311700" y="2009725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dk1"/>
                </a:solidFill>
              </a:rPr>
              <a:t>Move/copy your downloaded </a:t>
            </a:r>
            <a:r>
              <a:rPr lang="en-US" sz="20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*.</a:t>
            </a:r>
            <a:r>
              <a:rPr lang="en-US" sz="2000" dirty="0" err="1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fastq</a:t>
            </a:r>
            <a:r>
              <a:rPr lang="en-US" sz="2000" dirty="0">
                <a:solidFill>
                  <a:schemeClr val="dk1"/>
                </a:solidFill>
              </a:rPr>
              <a:t> files into your working directory.</a:t>
            </a:r>
          </a:p>
          <a:p>
            <a:pPr marL="0" indent="0">
              <a:spcBef>
                <a:spcPts val="1200"/>
              </a:spcBef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dk1"/>
                </a:solidFill>
              </a:rPr>
              <a:t>Count reads (headers) — no decompression needed (hint: @)</a:t>
            </a:r>
          </a:p>
          <a:p>
            <a:pPr marL="0" indent="0">
              <a:spcBef>
                <a:spcPts val="1200"/>
              </a:spcBef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dk1"/>
                </a:solidFill>
              </a:rPr>
              <a:t>Find how many reads contain ambiguous base ‘N’</a:t>
            </a:r>
          </a:p>
          <a:p>
            <a:pPr marL="0" indent="0">
              <a:spcBef>
                <a:spcPts val="1200"/>
              </a:spcBef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dk1"/>
                </a:solidFill>
              </a:rPr>
              <a:t>Top 10 most common 6-mers at the 5' end</a:t>
            </a:r>
          </a:p>
          <a:p>
            <a:pPr marL="0" indent="0">
              <a:spcBef>
                <a:spcPts val="1200"/>
              </a:spcBef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dk1"/>
                </a:solidFill>
              </a:rPr>
              <a:t>Motif search (choose a short motif, e.g., ACGTAC)</a:t>
            </a:r>
          </a:p>
          <a:p>
            <a:pPr marL="0" indent="0">
              <a:spcBef>
                <a:spcPts val="1200"/>
              </a:spcBef>
              <a:buClr>
                <a:schemeClr val="dk1"/>
              </a:buClr>
              <a:buSzPts val="1100"/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dk1"/>
                </a:solidFill>
              </a:rPr>
              <a:t>Take the first 100 reads</a:t>
            </a:r>
          </a:p>
        </p:txBody>
      </p:sp>
    </p:spTree>
    <p:extLst>
      <p:ext uri="{BB962C8B-B14F-4D97-AF65-F5344CB8AC3E}">
        <p14:creationId xmlns:p14="http://schemas.microsoft.com/office/powerpoint/2010/main" val="23892750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C319C-D0BE-A15B-CB1A-37AF92CA8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>
            <a:spLocks/>
          </p:cNvSpPr>
          <p:nvPr/>
        </p:nvSpPr>
        <p:spPr>
          <a:xfrm>
            <a:off x="477150" y="2403450"/>
            <a:ext cx="8346300" cy="1814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600" dirty="0">
                <a:solidFill>
                  <a:schemeClr val="dk1"/>
                </a:solidFill>
              </a:rPr>
              <a:t>Module 1</a:t>
            </a:r>
          </a:p>
          <a:p>
            <a:pPr marL="0" indent="0" algn="ctr">
              <a:spcBef>
                <a:spcPts val="1200"/>
              </a:spcBef>
              <a:buFont typeface="Arial" panose="020B0604020202020204" pitchFamily="34" charset="0"/>
              <a:buNone/>
            </a:pPr>
            <a:r>
              <a:rPr lang="en-US" sz="4800" dirty="0">
                <a:solidFill>
                  <a:schemeClr val="dk1"/>
                </a:solidFill>
              </a:rPr>
              <a:t>GEO Basics</a:t>
            </a:r>
          </a:p>
          <a:p>
            <a:pPr marL="0" indent="0" algn="ctr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sz="48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91173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84DB4-BF84-8D85-5693-EFEF07920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What is GEO?</a:t>
            </a:r>
            <a:br>
              <a:rPr lang="en-US" b="1" dirty="0"/>
            </a:b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F9913C-AC41-D6CF-D32D-4A7266DAEF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823733"/>
            <a:ext cx="8520600" cy="4555200"/>
          </a:xfrm>
        </p:spPr>
        <p:txBody>
          <a:bodyPr>
            <a:normAutofit/>
          </a:bodyPr>
          <a:lstStyle/>
          <a:p>
            <a:r>
              <a:rPr lang="en-US" sz="2400" b="1" dirty="0"/>
              <a:t>Gene Expression Omnibus</a:t>
            </a:r>
            <a:r>
              <a:rPr lang="en-US" sz="2400" dirty="0"/>
              <a:t> — NCBI's public repository for functional genomics data</a:t>
            </a:r>
          </a:p>
          <a:p>
            <a:r>
              <a:rPr lang="en-US" sz="2400" dirty="0"/>
              <a:t>Anything published with sequencing data ends up here (by NIH mandate)</a:t>
            </a:r>
          </a:p>
          <a:p>
            <a:r>
              <a:rPr lang="en-US" sz="2400" dirty="0"/>
              <a:t>Two layers of data:</a:t>
            </a:r>
          </a:p>
          <a:p>
            <a:pPr lvl="1"/>
            <a:r>
              <a:rPr lang="en-US" sz="2000" b="1" dirty="0"/>
              <a:t>Processed</a:t>
            </a:r>
            <a:r>
              <a:rPr lang="en-US" sz="2000" dirty="0"/>
              <a:t>: count matrices, normalized expression — ready to analyze</a:t>
            </a:r>
          </a:p>
          <a:p>
            <a:pPr lvl="1"/>
            <a:r>
              <a:rPr lang="en-US" sz="2000" b="1" dirty="0"/>
              <a:t>Raw</a:t>
            </a:r>
            <a:r>
              <a:rPr lang="en-US" sz="2000" dirty="0"/>
              <a:t>: the original FASTQ reads — sitting in SRA, linked from GEO</a:t>
            </a:r>
          </a:p>
          <a:p>
            <a:endParaRPr lang="en-CA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8684DD-0641-124C-6CFE-BE7208A5450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00000000-1234-1234-1234-123412341234}" type="slidenum">
              <a:rPr lang="en" smtClean="0"/>
              <a:pPr algn="r"/>
              <a:t>23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5829664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8"/>
          <p:cNvSpPr txBox="1">
            <a:spLocks noGrp="1"/>
          </p:cNvSpPr>
          <p:nvPr>
            <p:ph type="title"/>
          </p:nvPr>
        </p:nvSpPr>
        <p:spPr>
          <a:xfrm>
            <a:off x="311700" y="308848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90000"/>
          </a:bodyPr>
          <a:lstStyle/>
          <a:p>
            <a:r>
              <a:rPr lang="en" dirty="0"/>
              <a:t>GEO (Gene Expression Omnibus)</a:t>
            </a:r>
            <a:endParaRPr dirty="0"/>
          </a:p>
        </p:txBody>
      </p:sp>
      <p:sp>
        <p:nvSpPr>
          <p:cNvPr id="93" name="Google Shape;93;p18"/>
          <p:cNvSpPr txBox="1">
            <a:spLocks noGrp="1"/>
          </p:cNvSpPr>
          <p:nvPr>
            <p:ph type="sldNum" idx="12"/>
          </p:nvPr>
        </p:nvSpPr>
        <p:spPr>
          <a:xfrm>
            <a:off x="8472458" y="55204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algn="r"/>
            <a:fld id="{00000000-1234-1234-1234-123412341234}" type="slidenum">
              <a:rPr lang="en"/>
              <a:pPr algn="r"/>
              <a:t>24</a:t>
            </a:fld>
            <a:endParaRPr dirty="0"/>
          </a:p>
        </p:txBody>
      </p:sp>
      <p:pic>
        <p:nvPicPr>
          <p:cNvPr id="94" name="Google Shape;9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6085" y="1158786"/>
            <a:ext cx="8194692" cy="4959792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/>
          <p:nvPr/>
        </p:nvSpPr>
        <p:spPr>
          <a:xfrm>
            <a:off x="6447518" y="3795517"/>
            <a:ext cx="1572300" cy="2427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endParaRPr>
              <a:highlight>
                <a:srgbClr val="FF0000"/>
              </a:highlight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1116A-C153-2AD5-8ABD-F89D51013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Accession types — learn to read them</a:t>
            </a:r>
            <a:br>
              <a:rPr lang="en-US" b="1" dirty="0"/>
            </a:b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1F310-9775-C202-E87D-E8854C13BA0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00000000-1234-1234-1234-123412341234}" type="slidenum">
              <a:rPr lang="en" smtClean="0"/>
              <a:pPr algn="r"/>
              <a:t>25</a:t>
            </a:fld>
            <a:endParaRPr lang="e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5C98EB3-2466-1CBD-A01E-8BBDC8269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80" y="1975103"/>
            <a:ext cx="7470240" cy="3691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6357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>
            <a:spLocks noGrp="1"/>
          </p:cNvSpPr>
          <p:nvPr>
            <p:ph type="sldNum" idx="12"/>
          </p:nvPr>
        </p:nvSpPr>
        <p:spPr>
          <a:xfrm>
            <a:off x="8472458" y="55204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algn="r"/>
            <a:fld id="{00000000-1234-1234-1234-123412341234}" type="slidenum">
              <a:rPr lang="en"/>
              <a:pPr algn="r"/>
              <a:t>26</a:t>
            </a:fld>
            <a:endParaRPr/>
          </a:p>
        </p:txBody>
      </p:sp>
      <p:pic>
        <p:nvPicPr>
          <p:cNvPr id="101" name="Google Shape;10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6600" y="235115"/>
            <a:ext cx="6985858" cy="6195792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 txBox="1"/>
          <p:nvPr/>
        </p:nvSpPr>
        <p:spPr>
          <a:xfrm>
            <a:off x="174700" y="776770"/>
            <a:ext cx="1311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" sz="1500" dirty="0">
                <a:solidFill>
                  <a:schemeClr val="dk1"/>
                </a:solidFill>
              </a:rPr>
              <a:t>GSE251845</a:t>
            </a:r>
            <a:endParaRPr sz="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0"/>
          <p:cNvSpPr txBox="1">
            <a:spLocks noGrp="1"/>
          </p:cNvSpPr>
          <p:nvPr>
            <p:ph type="sldNum" idx="12"/>
          </p:nvPr>
        </p:nvSpPr>
        <p:spPr>
          <a:xfrm>
            <a:off x="8472458" y="55204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algn="r"/>
            <a:fld id="{00000000-1234-1234-1234-123412341234}" type="slidenum">
              <a:rPr lang="en"/>
              <a:pPr algn="r"/>
              <a:t>27</a:t>
            </a:fld>
            <a:endParaRPr/>
          </a:p>
        </p:txBody>
      </p:sp>
      <p:pic>
        <p:nvPicPr>
          <p:cNvPr id="108" name="Google Shape;108;p20"/>
          <p:cNvPicPr preferRelativeResize="0"/>
          <p:nvPr/>
        </p:nvPicPr>
        <p:blipFill>
          <a:blip r:embed="rId3">
            <a:alphaModFix/>
          </a:blip>
          <a:srcRect r="9738"/>
          <a:stretch>
            <a:fillRect/>
          </a:stretch>
        </p:blipFill>
        <p:spPr>
          <a:xfrm>
            <a:off x="3820862" y="349956"/>
            <a:ext cx="4925946" cy="5995103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0"/>
          <p:cNvSpPr txBox="1"/>
          <p:nvPr/>
        </p:nvSpPr>
        <p:spPr>
          <a:xfrm>
            <a:off x="24662" y="1151900"/>
            <a:ext cx="3796200" cy="39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" sz="1800" b="1" dirty="0">
                <a:solidFill>
                  <a:schemeClr val="dk1"/>
                </a:solidFill>
              </a:rPr>
              <a:t>GEO accessions:</a:t>
            </a:r>
            <a:r>
              <a:rPr lang="en" sz="1800" dirty="0">
                <a:solidFill>
                  <a:schemeClr val="dk1"/>
                </a:solidFill>
              </a:rPr>
              <a:t> </a:t>
            </a:r>
            <a:r>
              <a:rPr lang="en" sz="18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GSE</a:t>
            </a:r>
            <a:r>
              <a:rPr lang="en" sz="1800" dirty="0">
                <a:solidFill>
                  <a:schemeClr val="dk1"/>
                </a:solidFill>
              </a:rPr>
              <a:t> (series), </a:t>
            </a:r>
            <a:r>
              <a:rPr lang="en" sz="18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GSM</a:t>
            </a:r>
            <a:r>
              <a:rPr lang="en" sz="1800" dirty="0">
                <a:solidFill>
                  <a:schemeClr val="dk1"/>
                </a:solidFill>
              </a:rPr>
              <a:t> (samples), </a:t>
            </a:r>
            <a:r>
              <a:rPr lang="en" sz="18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GPL</a:t>
            </a:r>
            <a:r>
              <a:rPr lang="en" sz="1800" dirty="0">
                <a:solidFill>
                  <a:schemeClr val="dk1"/>
                </a:solidFill>
              </a:rPr>
              <a:t> (platform)</a:t>
            </a:r>
            <a:br>
              <a:rPr lang="en" sz="1800" dirty="0">
                <a:solidFill>
                  <a:schemeClr val="dk1"/>
                </a:solidFill>
              </a:rPr>
            </a:br>
            <a:endParaRPr sz="1800" dirty="0">
              <a:solidFill>
                <a:schemeClr val="dk1"/>
              </a:solidFill>
            </a:endParaRPr>
          </a:p>
          <a:p>
            <a:r>
              <a:rPr lang="en" sz="1800" b="1" dirty="0">
                <a:solidFill>
                  <a:schemeClr val="dk1"/>
                </a:solidFill>
              </a:rPr>
              <a:t>Processed data:</a:t>
            </a:r>
            <a:r>
              <a:rPr lang="en" sz="1800" dirty="0">
                <a:solidFill>
                  <a:schemeClr val="dk1"/>
                </a:solidFill>
              </a:rPr>
              <a:t> Series Matrix / SOFT / tabular files</a:t>
            </a:r>
            <a:br>
              <a:rPr lang="en" sz="1800" dirty="0">
                <a:solidFill>
                  <a:schemeClr val="dk1"/>
                </a:solidFill>
              </a:rPr>
            </a:br>
            <a:endParaRPr sz="1800" dirty="0">
              <a:solidFill>
                <a:schemeClr val="dk1"/>
              </a:solidFill>
            </a:endParaRPr>
          </a:p>
          <a:p>
            <a:r>
              <a:rPr lang="en" sz="1800" b="1" dirty="0">
                <a:solidFill>
                  <a:schemeClr val="dk1"/>
                </a:solidFill>
              </a:rPr>
              <a:t>Raw count data: </a:t>
            </a:r>
            <a:r>
              <a:rPr lang="en" sz="1800" dirty="0">
                <a:solidFill>
                  <a:schemeClr val="dk1"/>
                </a:solidFill>
              </a:rPr>
              <a:t>in supplementary file</a:t>
            </a:r>
            <a:endParaRPr sz="1800" dirty="0">
              <a:solidFill>
                <a:schemeClr val="dk1"/>
              </a:solidFill>
            </a:endParaRPr>
          </a:p>
          <a:p>
            <a:endParaRPr sz="1800" b="1" dirty="0">
              <a:solidFill>
                <a:schemeClr val="dk1"/>
              </a:solidFill>
            </a:endParaRPr>
          </a:p>
          <a:p>
            <a:r>
              <a:rPr lang="en" sz="1800" b="1" dirty="0">
                <a:solidFill>
                  <a:schemeClr val="dk1"/>
                </a:solidFill>
              </a:rPr>
              <a:t>Raw reads:</a:t>
            </a:r>
            <a:r>
              <a:rPr lang="en" sz="1800" dirty="0">
                <a:solidFill>
                  <a:schemeClr val="dk1"/>
                </a:solidFill>
              </a:rPr>
              <a:t> usually in </a:t>
            </a:r>
            <a:r>
              <a:rPr lang="en" sz="1800" b="1" dirty="0">
                <a:solidFill>
                  <a:schemeClr val="dk1"/>
                </a:solidFill>
              </a:rPr>
              <a:t>SRA/ENA</a:t>
            </a:r>
            <a:r>
              <a:rPr lang="en" sz="1800" dirty="0">
                <a:solidFill>
                  <a:schemeClr val="dk1"/>
                </a:solidFill>
              </a:rPr>
              <a:t> as </a:t>
            </a:r>
            <a:r>
              <a:rPr lang="en" sz="18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SRR…</a:t>
            </a:r>
            <a:r>
              <a:rPr lang="en" sz="1800" dirty="0">
                <a:solidFill>
                  <a:schemeClr val="dk1"/>
                </a:solidFill>
              </a:rPr>
              <a:t> → </a:t>
            </a:r>
            <a:r>
              <a:rPr lang="en" sz="18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*.fastq.gz</a:t>
            </a:r>
            <a:endParaRPr sz="18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>
              <a:lnSpc>
                <a:spcPct val="115000"/>
              </a:lnSpc>
              <a:spcBef>
                <a:spcPts val="1800"/>
              </a:spcBef>
              <a:spcAft>
                <a:spcPts val="1800"/>
              </a:spcAft>
            </a:pPr>
            <a:r>
              <a:rPr lang="en" sz="1500" b="1" dirty="0">
                <a:solidFill>
                  <a:schemeClr val="dk1"/>
                </a:solidFill>
              </a:rPr>
              <a:t>Raw (FASTQ):</a:t>
            </a:r>
            <a:r>
              <a:rPr lang="en" sz="1500" dirty="0">
                <a:solidFill>
                  <a:schemeClr val="dk1"/>
                </a:solidFill>
              </a:rPr>
              <a:t> larger; needed for alignment/QC</a:t>
            </a:r>
            <a:endParaRPr sz="15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0C758-C368-F037-2A7B-3108595C7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2AD35-905E-899A-E274-DDB23B2B4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Two ways to download FASTQ</a:t>
            </a:r>
            <a:br>
              <a:rPr lang="en-US" b="1" dirty="0"/>
            </a:b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0F5C0-0DDE-5075-BA16-64722289BE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/>
              <a:t>#1 `</a:t>
            </a:r>
            <a:r>
              <a:rPr lang="en-US" b="1" dirty="0" err="1"/>
              <a:t>wget</a:t>
            </a:r>
            <a:r>
              <a:rPr lang="en-US" b="1" dirty="0"/>
              <a:t>` — the universal downloader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Works for </a:t>
            </a:r>
            <a:r>
              <a:rPr lang="en-US" b="1" dirty="0"/>
              <a:t>any URL</a:t>
            </a:r>
            <a:r>
              <a:rPr lang="en-US" dirty="0"/>
              <a:t> (FTP, HTTPS)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Best when GEO gives you a direct supplementary file link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Best when ENA hosts the FASTQ already </a:t>
            </a:r>
            <a:r>
              <a:rPr lang="en-US" dirty="0" err="1"/>
              <a:t>gzipped</a:t>
            </a:r>
            <a:r>
              <a:rPr lang="en-US" dirty="0"/>
              <a:t> (faster than going through SRA)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Pros: no install, just works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Cons: you need to </a:t>
            </a:r>
            <a:r>
              <a:rPr lang="en-US" i="1" dirty="0"/>
              <a:t>know the URL</a:t>
            </a:r>
            <a:endParaRPr lang="en-US" dirty="0"/>
          </a:p>
          <a:p>
            <a:pPr marL="114300" indent="0">
              <a:buNone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721BF-86B2-4258-5985-A9F26D08F8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00000000-1234-1234-1234-123412341234}" type="slidenum">
              <a:rPr lang="en" smtClean="0"/>
              <a:pPr algn="r"/>
              <a:t>28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7942859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735B4-5264-565B-86AE-2C1BED607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38D6B-4A59-E6BB-5B9A-3DCE8627D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Two ways to download FASTQ</a:t>
            </a:r>
            <a:br>
              <a:rPr lang="en-US" b="1" dirty="0"/>
            </a:b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7FB586-9A09-5647-5D0A-D4F239014F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800" b="1" dirty="0"/>
              <a:t>#2 `</a:t>
            </a:r>
            <a:r>
              <a:rPr lang="en-US" sz="2800" b="1" dirty="0" err="1"/>
              <a:t>fastq</a:t>
            </a:r>
            <a:r>
              <a:rPr lang="en-US" sz="2800" b="1" dirty="0"/>
              <a:t>-dump` (and </a:t>
            </a:r>
            <a:r>
              <a:rPr lang="en-US" sz="2800" b="1" dirty="0" err="1"/>
              <a:t>fasterq</a:t>
            </a:r>
            <a:r>
              <a:rPr lang="en-US" sz="2800" b="1" dirty="0"/>
              <a:t>-dump) — the SRA-native tool</a:t>
            </a:r>
            <a:br>
              <a:rPr lang="en-US" sz="2800" dirty="0"/>
            </a:br>
            <a:endParaRPr lang="en-US" sz="2800" dirty="0"/>
          </a:p>
          <a:p>
            <a:pPr lvl="1">
              <a:lnSpc>
                <a:spcPct val="150000"/>
              </a:lnSpc>
            </a:pPr>
            <a:r>
              <a:rPr lang="en-US" dirty="0"/>
              <a:t>Part of NCBI's </a:t>
            </a:r>
            <a:r>
              <a:rPr lang="en-US" b="1" dirty="0"/>
              <a:t>SRA Toolkit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/>
              <a:t>Takes an </a:t>
            </a:r>
            <a:r>
              <a:rPr lang="en-US" b="1" dirty="0"/>
              <a:t>SRR accession</a:t>
            </a:r>
            <a:r>
              <a:rPr lang="en-US" dirty="0"/>
              <a:t> directly — no URL needed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Knows how to handle paired-end splitting, read filtering, range selection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Pros: reproducible, scriptable, handles every SRR uniformly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Cons: needs install; first run downloads a cache</a:t>
            </a:r>
          </a:p>
          <a:p>
            <a:endParaRPr lang="en-US" sz="2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2B54FF-A848-081B-4DAC-279DE928E6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00000000-1234-1234-1234-123412341234}" type="slidenum">
              <a:rPr lang="en" smtClean="0"/>
              <a:pPr algn="r"/>
              <a:t>29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9799568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1"/>
          <p:cNvSpPr txBox="1">
            <a:spLocks noGrp="1"/>
          </p:cNvSpPr>
          <p:nvPr>
            <p:ph type="sldNum" idx="12"/>
          </p:nvPr>
        </p:nvSpPr>
        <p:spPr>
          <a:xfrm>
            <a:off x="8472458" y="55204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algn="r"/>
            <a:fld id="{00000000-1234-1234-1234-123412341234}" type="slidenum">
              <a:rPr lang="en"/>
              <a:pPr algn="r"/>
              <a:t>30</a:t>
            </a:fld>
            <a:endParaRPr/>
          </a:p>
        </p:txBody>
      </p:sp>
      <p:pic>
        <p:nvPicPr>
          <p:cNvPr id="115" name="Google Shape;115;p21"/>
          <p:cNvPicPr preferRelativeResize="0"/>
          <p:nvPr/>
        </p:nvPicPr>
        <p:blipFill rotWithShape="1">
          <a:blip r:embed="rId3">
            <a:alphaModFix/>
          </a:blip>
          <a:srcRect b="10378"/>
          <a:stretch/>
        </p:blipFill>
        <p:spPr>
          <a:xfrm>
            <a:off x="152400" y="372471"/>
            <a:ext cx="8839199" cy="3710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21"/>
          <p:cNvPicPr preferRelativeResize="0"/>
          <p:nvPr/>
        </p:nvPicPr>
        <p:blipFill rotWithShape="1">
          <a:blip r:embed="rId4">
            <a:alphaModFix/>
          </a:blip>
          <a:srcRect t="26782"/>
          <a:stretch/>
        </p:blipFill>
        <p:spPr>
          <a:xfrm>
            <a:off x="-2" y="4614067"/>
            <a:ext cx="9144001" cy="110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9A719-B29D-A0CA-3CF6-12D16E8B9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Installing SRA Toolkit (optional)</a:t>
            </a:r>
            <a:br>
              <a:rPr lang="en-US" b="1" dirty="0"/>
            </a:b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147919-B60A-CB99-EBD7-950CA5156D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00000000-1234-1234-1234-123412341234}" type="slidenum">
              <a:rPr lang="en" smtClean="0"/>
              <a:pPr algn="r"/>
              <a:t>31</a:t>
            </a:fld>
            <a:endParaRPr lang="e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6C2B52-041E-8415-F18C-D7A4C7600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482" y="1754646"/>
            <a:ext cx="6269036" cy="3617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383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73927-72FD-8E2A-DE8A-8F7933250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593366"/>
            <a:ext cx="8520600" cy="2056527"/>
          </a:xfrm>
        </p:spPr>
        <p:txBody>
          <a:bodyPr>
            <a:normAutofit/>
          </a:bodyPr>
          <a:lstStyle/>
          <a:p>
            <a:r>
              <a:rPr lang="en-US" b="1" dirty="0"/>
              <a:t>The two demo commands</a:t>
            </a:r>
            <a:br>
              <a:rPr lang="en-US" b="1" dirty="0"/>
            </a:br>
            <a:r>
              <a:rPr lang="en-US" sz="2000" b="1" dirty="0"/>
              <a:t>You can find both command in the </a:t>
            </a:r>
            <a:r>
              <a:rPr lang="en-US" sz="2000" b="1" dirty="0" err="1"/>
              <a:t>github</a:t>
            </a:r>
            <a:r>
              <a:rPr lang="en-US" sz="2000" b="1" dirty="0"/>
              <a:t> repo</a:t>
            </a:r>
            <a:br>
              <a:rPr lang="en-US" b="1" dirty="0"/>
            </a:b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C7158D-18C2-B350-7D3C-5FAA02833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2061433"/>
            <a:ext cx="8520600" cy="963971"/>
          </a:xfrm>
        </p:spPr>
        <p:txBody>
          <a:bodyPr/>
          <a:lstStyle/>
          <a:p>
            <a:r>
              <a:rPr lang="en-US" b="1" dirty="0"/>
              <a:t>Download with </a:t>
            </a:r>
            <a:r>
              <a:rPr lang="en-US" b="1" dirty="0" err="1"/>
              <a:t>wget</a:t>
            </a:r>
            <a:r>
              <a:rPr lang="en-US" dirty="0"/>
              <a:t> (from ENA — friendliest mirror):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8D27E5-8307-91D7-050D-B6E749FE4AC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00000000-1234-1234-1234-123412341234}" type="slidenum">
              <a:rPr lang="en" smtClean="0"/>
              <a:pPr algn="r"/>
              <a:t>32</a:t>
            </a:fld>
            <a:endParaRPr lang="en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0ABD721-FCC8-BB5E-5C98-A0D1E5EBCA8B}"/>
              </a:ext>
            </a:extLst>
          </p:cNvPr>
          <p:cNvSpPr txBox="1">
            <a:spLocks/>
          </p:cNvSpPr>
          <p:nvPr/>
        </p:nvSpPr>
        <p:spPr>
          <a:xfrm>
            <a:off x="226208" y="3913472"/>
            <a:ext cx="8520600" cy="96397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457200" lvl="0" indent="-342900" algn="l" defTabSz="914175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 panose="020B0604020202020204" pitchFamily="34" charset="0"/>
              <a:buChar char="●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14400" lvl="1" indent="-317500" algn="l" defTabSz="914175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○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lvl="2" indent="-317500" algn="l" defTabSz="914175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■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800" lvl="3" indent="-317500" algn="l" defTabSz="914175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●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86000" lvl="4" indent="-317500" algn="l" defTabSz="914175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○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43200" lvl="5" indent="-317500" algn="l" defTabSz="914175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■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00400" lvl="6" indent="-317500" algn="l" defTabSz="914175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●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7600" lvl="7" indent="-317500" algn="l" defTabSz="914175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○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14800" lvl="8" indent="-317500" algn="l" defTabSz="914175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■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Download with </a:t>
            </a:r>
            <a:r>
              <a:rPr lang="en-US" b="1" dirty="0" err="1"/>
              <a:t>fastq</a:t>
            </a:r>
            <a:r>
              <a:rPr lang="en-US" b="1" dirty="0"/>
              <a:t>-dump </a:t>
            </a:r>
            <a:r>
              <a:rPr lang="en-US" dirty="0"/>
              <a:t>(cap at 10,000 reads for the demo):</a:t>
            </a: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2D5B83-2008-539A-3211-D5AEAB399C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92" y="5119482"/>
            <a:ext cx="8623966" cy="8561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2145A6F-0872-67D4-4C13-CBA6C4EB2D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191" y="2751613"/>
            <a:ext cx="8623967" cy="856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88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2"/>
          <p:cNvSpPr txBox="1">
            <a:spLocks noGrp="1"/>
          </p:cNvSpPr>
          <p:nvPr>
            <p:ph type="sldNum" idx="12"/>
          </p:nvPr>
        </p:nvSpPr>
        <p:spPr>
          <a:xfrm>
            <a:off x="8472458" y="55204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algn="r"/>
            <a:fld id="{00000000-1234-1234-1234-123412341234}" type="slidenum">
              <a:rPr lang="en"/>
              <a:pPr algn="r"/>
              <a:t>33</a:t>
            </a:fld>
            <a:endParaRPr/>
          </a:p>
        </p:txBody>
      </p:sp>
      <p:pic>
        <p:nvPicPr>
          <p:cNvPr id="122" name="Google Shape;122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8731" y="124178"/>
            <a:ext cx="7209754" cy="6175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3"/>
          <p:cNvSpPr txBox="1">
            <a:spLocks noGrp="1"/>
          </p:cNvSpPr>
          <p:nvPr>
            <p:ph type="sldNum" idx="12"/>
          </p:nvPr>
        </p:nvSpPr>
        <p:spPr>
          <a:xfrm>
            <a:off x="8472458" y="55204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algn="r"/>
            <a:fld id="{00000000-1234-1234-1234-123412341234}" type="slidenum">
              <a:rPr lang="en"/>
              <a:pPr algn="r"/>
              <a:t>34</a:t>
            </a:fld>
            <a:endParaRPr/>
          </a:p>
        </p:txBody>
      </p:sp>
      <p:pic>
        <p:nvPicPr>
          <p:cNvPr id="128" name="Google Shape;128;p23"/>
          <p:cNvPicPr preferRelativeResize="0"/>
          <p:nvPr/>
        </p:nvPicPr>
        <p:blipFill>
          <a:blip r:embed="rId3">
            <a:alphaModFix/>
          </a:blip>
          <a:srcRect r="12517"/>
          <a:stretch>
            <a:fillRect/>
          </a:stretch>
        </p:blipFill>
        <p:spPr>
          <a:xfrm>
            <a:off x="1153837" y="125968"/>
            <a:ext cx="6037185" cy="64215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5"/>
          <p:cNvSpPr txBox="1">
            <a:spLocks noGrp="1"/>
          </p:cNvSpPr>
          <p:nvPr>
            <p:ph type="title"/>
          </p:nvPr>
        </p:nvSpPr>
        <p:spPr>
          <a:xfrm>
            <a:off x="311700" y="371233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90000"/>
          </a:bodyPr>
          <a:lstStyle/>
          <a:p>
            <a:r>
              <a:rPr lang="en" dirty="0"/>
              <a:t>FTP / HTTPS Download</a:t>
            </a:r>
            <a:endParaRPr dirty="0"/>
          </a:p>
        </p:txBody>
      </p:sp>
      <p:sp>
        <p:nvSpPr>
          <p:cNvPr id="141" name="Google Shape;141;p25"/>
          <p:cNvSpPr txBox="1">
            <a:spLocks noGrp="1"/>
          </p:cNvSpPr>
          <p:nvPr>
            <p:ph type="body" idx="1"/>
          </p:nvPr>
        </p:nvSpPr>
        <p:spPr>
          <a:xfrm>
            <a:off x="311700" y="1605841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en" sz="1500" dirty="0">
                <a:solidFill>
                  <a:schemeClr val="dk1"/>
                </a:solidFill>
              </a:rPr>
              <a:t>Pick one tool: </a:t>
            </a:r>
            <a:r>
              <a:rPr lang="en" sz="15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curl -L -O </a:t>
            </a:r>
            <a:r>
              <a:rPr lang="en" sz="1500" dirty="0">
                <a:solidFill>
                  <a:schemeClr val="dk1"/>
                </a:solidFill>
              </a:rPr>
              <a:t>&lt;URL&gt; or </a:t>
            </a:r>
            <a:r>
              <a:rPr lang="en" sz="15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wget </a:t>
            </a:r>
            <a:r>
              <a:rPr lang="en" sz="1500" dirty="0">
                <a:solidFill>
                  <a:schemeClr val="dk1"/>
                </a:solidFill>
              </a:rPr>
              <a:t>&lt;URL&gt;</a:t>
            </a:r>
            <a:endParaRPr sz="15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42" name="Google Shape;142;p25"/>
          <p:cNvSpPr txBox="1">
            <a:spLocks noGrp="1"/>
          </p:cNvSpPr>
          <p:nvPr>
            <p:ph type="sldNum" idx="12"/>
          </p:nvPr>
        </p:nvSpPr>
        <p:spPr>
          <a:xfrm>
            <a:off x="8472458" y="55204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algn="r"/>
            <a:fld id="{00000000-1234-1234-1234-123412341234}" type="slidenum">
              <a:rPr lang="en"/>
              <a:pPr algn="r"/>
              <a:t>35</a:t>
            </a:fld>
            <a:endParaRPr/>
          </a:p>
        </p:txBody>
      </p:sp>
      <p:pic>
        <p:nvPicPr>
          <p:cNvPr id="143" name="Google Shape;14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464941"/>
            <a:ext cx="9144000" cy="14748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" y="4328239"/>
            <a:ext cx="9143999" cy="5306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46FDE-1638-C703-18CD-32395353A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b="1" dirty="0"/>
            </a:br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FEBAA4-4A7B-EC85-C55C-A79DB1AC7DF8}"/>
              </a:ext>
            </a:extLst>
          </p:cNvPr>
          <p:cNvSpPr txBox="1"/>
          <p:nvPr/>
        </p:nvSpPr>
        <p:spPr>
          <a:xfrm>
            <a:off x="461866" y="1525075"/>
            <a:ext cx="758112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/>
              <a:t>Exercise 2 — pull real data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EDE15C-3D10-AFBA-79D3-DFB4248A7A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866" y="2480187"/>
            <a:ext cx="8496201" cy="2852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322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F212D-F3F4-A1CA-C839-3065F5F27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434" y="1539260"/>
            <a:ext cx="7886700" cy="955967"/>
          </a:xfrm>
        </p:spPr>
        <p:txBody>
          <a:bodyPr>
            <a:normAutofit fontScale="90000"/>
          </a:bodyPr>
          <a:lstStyle/>
          <a:p>
            <a:r>
              <a:rPr lang="en-US" sz="4400" b="1" dirty="0"/>
              <a:t>Putting it together on real data</a:t>
            </a:r>
            <a:br>
              <a:rPr lang="en-US" sz="4400" b="1" dirty="0"/>
            </a:br>
            <a:endParaRPr lang="en-CA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3E5024-CD40-AC3B-A9D0-562CD582EC73}"/>
              </a:ext>
            </a:extLst>
          </p:cNvPr>
          <p:cNvSpPr txBox="1"/>
          <p:nvPr/>
        </p:nvSpPr>
        <p:spPr>
          <a:xfrm>
            <a:off x="205433" y="2125767"/>
            <a:ext cx="8287638" cy="3031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1200"/>
              </a:spcAft>
            </a:pPr>
            <a:r>
              <a:rPr lang="en-US" sz="2800" b="1" i="0" dirty="0">
                <a:solidFill>
                  <a:srgbClr val="1F2328"/>
                </a:solidFill>
                <a:effectLst/>
              </a:rPr>
              <a:t>Now that you can download, </a:t>
            </a:r>
            <a:r>
              <a:rPr lang="en-US" sz="2800" b="1" dirty="0"/>
              <a:t>let's </a:t>
            </a:r>
            <a:r>
              <a:rPr lang="en-US" sz="2800" b="1" i="1" dirty="0"/>
              <a:t>look</a:t>
            </a:r>
            <a:r>
              <a:rPr lang="en-US" sz="2800" b="1" dirty="0"/>
              <a:t> at the data</a:t>
            </a:r>
          </a:p>
          <a:p>
            <a:r>
              <a:rPr lang="en-US" sz="2400" dirty="0"/>
              <a:t>Two file types, two skill sets:</a:t>
            </a:r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Counts CSV</a:t>
            </a:r>
            <a:r>
              <a:rPr lang="en-US" sz="2400" dirty="0"/>
              <a:t> (</a:t>
            </a:r>
            <a:r>
              <a:rPr lang="en-US" sz="2400" dirty="0" err="1"/>
              <a:t>gzipped</a:t>
            </a:r>
            <a:r>
              <a:rPr lang="en-US" sz="2400" dirty="0"/>
              <a:t>): tabular, comma-separated, has a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FASTQ</a:t>
            </a:r>
            <a:r>
              <a:rPr lang="en-US" sz="2400" dirty="0"/>
              <a:t>: 4 lines per read, no header, sequence-aware</a:t>
            </a:r>
          </a:p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endParaRPr lang="en-US" b="1" i="0" dirty="0">
              <a:solidFill>
                <a:srgbClr val="1F2328"/>
              </a:solidFill>
              <a:effectLst/>
              <a:latin typeface="Mona Sans VF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8649355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93ABE-2537-D3CB-D3AA-F16CC0C66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0807C-E67A-86F8-1B9E-BEE75C5DC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b="1" dirty="0"/>
            </a:br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5F8FA7-16C6-3551-5EB6-6BF12964B6F7}"/>
              </a:ext>
            </a:extLst>
          </p:cNvPr>
          <p:cNvSpPr txBox="1"/>
          <p:nvPr/>
        </p:nvSpPr>
        <p:spPr>
          <a:xfrm>
            <a:off x="461866" y="1525075"/>
            <a:ext cx="758112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/>
              <a:t>Exercise 3.1 — Counts CSV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2660B6-7BF9-D194-C1E6-0EAE86D7CF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64" y="2294516"/>
            <a:ext cx="8968636" cy="3561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0207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92606-8CE1-F284-88FE-C3E21F56D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50848-2A67-73BB-8F54-C4A792970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b="1" dirty="0"/>
            </a:br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989E0B-F006-EDFA-A987-85362E3F8445}"/>
              </a:ext>
            </a:extLst>
          </p:cNvPr>
          <p:cNvSpPr txBox="1"/>
          <p:nvPr/>
        </p:nvSpPr>
        <p:spPr>
          <a:xfrm>
            <a:off x="461866" y="1525075"/>
            <a:ext cx="758112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/>
              <a:t>Exercise 3.2 — FASTQ inspection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D75F025-B2E8-713A-FD74-1793B22820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866" y="2294516"/>
            <a:ext cx="7772400" cy="4110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39992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7D43E-A9D5-6EE1-E12C-1B980BF09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E9E27CB-B702-A1CD-BDBD-F5E2DE2E25DD}"/>
              </a:ext>
            </a:extLst>
          </p:cNvPr>
          <p:cNvSpPr txBox="1"/>
          <p:nvPr/>
        </p:nvSpPr>
        <p:spPr>
          <a:xfrm>
            <a:off x="2111904" y="3167390"/>
            <a:ext cx="49106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/>
              <a:t>Q&amp;A!!!</a:t>
            </a:r>
          </a:p>
        </p:txBody>
      </p:sp>
    </p:spTree>
    <p:extLst>
      <p:ext uri="{BB962C8B-B14F-4D97-AF65-F5344CB8AC3E}">
        <p14:creationId xmlns:p14="http://schemas.microsoft.com/office/powerpoint/2010/main" val="33448457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6F573-A595-A958-FDC4-8C6D9F83C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logo with text on it&#10;&#10;AI-generated content may be incorrect.">
            <a:extLst>
              <a:ext uri="{FF2B5EF4-FFF2-40B4-BE49-F238E27FC236}">
                <a16:creationId xmlns:a16="http://schemas.microsoft.com/office/drawing/2014/main" id="{287C5FF9-D26A-BDAE-F9AC-6D45B9A5F1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4327" y="5172620"/>
            <a:ext cx="4056488" cy="8966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A9D71BF-7188-2774-A2A3-5661271E28EF}"/>
              </a:ext>
            </a:extLst>
          </p:cNvPr>
          <p:cNvSpPr txBox="1"/>
          <p:nvPr/>
        </p:nvSpPr>
        <p:spPr>
          <a:xfrm>
            <a:off x="2111904" y="2560006"/>
            <a:ext cx="49106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With thanks to our collaborators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31349D-8FBF-C965-8C6D-25582D00C1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553044"/>
            <a:ext cx="3838074" cy="2120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45159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8877</TotalTime>
  <Words>884</Words>
  <Application>Microsoft Macintosh PowerPoint</Application>
  <PresentationFormat>On-screen Show (4:3)</PresentationFormat>
  <Paragraphs>143</Paragraphs>
  <Slides>41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8" baseType="lpstr">
      <vt:lpstr>Arial</vt:lpstr>
      <vt:lpstr>Calibri</vt:lpstr>
      <vt:lpstr>Calibri Light</vt:lpstr>
      <vt:lpstr>Mona Sans VF</vt:lpstr>
      <vt:lpstr>Open Sans Light</vt:lpstr>
      <vt:lpstr>Roboto Mono</vt:lpstr>
      <vt:lpstr>Thème Office</vt:lpstr>
      <vt:lpstr>PowerPoint Presentation</vt:lpstr>
      <vt:lpstr>PowerPoint Presentation</vt:lpstr>
      <vt:lpstr>Setup &amp; Troubleshooting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File management &amp; navigation</vt:lpstr>
      <vt:lpstr>PowerPoint Presentation</vt:lpstr>
      <vt:lpstr>PowerPoint Presentation</vt:lpstr>
      <vt:lpstr>File inspection</vt:lpstr>
      <vt:lpstr>Exercise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is GEO? </vt:lpstr>
      <vt:lpstr>GEO (Gene Expression Omnibus)</vt:lpstr>
      <vt:lpstr>Accession types — learn to read them </vt:lpstr>
      <vt:lpstr>PowerPoint Presentation</vt:lpstr>
      <vt:lpstr>PowerPoint Presentation</vt:lpstr>
      <vt:lpstr>Two ways to download FASTQ </vt:lpstr>
      <vt:lpstr>Two ways to download FASTQ </vt:lpstr>
      <vt:lpstr>PowerPoint Presentation</vt:lpstr>
      <vt:lpstr>Installing SRA Toolkit (optional) </vt:lpstr>
      <vt:lpstr>The two demo commands You can find both command in the github repo </vt:lpstr>
      <vt:lpstr>PowerPoint Presentation</vt:lpstr>
      <vt:lpstr>PowerPoint Presentation</vt:lpstr>
      <vt:lpstr>FTP / HTTPS Download</vt:lpstr>
      <vt:lpstr> </vt:lpstr>
      <vt:lpstr>Putting it together on real data </vt:lpstr>
      <vt:lpstr> </vt:lpstr>
      <vt:lpstr> 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Rachade Hmamouchi</dc:creator>
  <cp:lastModifiedBy>arsham mikaeili</cp:lastModifiedBy>
  <cp:revision>42</cp:revision>
  <dcterms:created xsi:type="dcterms:W3CDTF">2019-07-29T14:54:16Z</dcterms:created>
  <dcterms:modified xsi:type="dcterms:W3CDTF">2026-05-26T01:39:26Z</dcterms:modified>
</cp:coreProperties>
</file>