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2"/>
  </p:notesMasterIdLst>
  <p:sldIdLst>
    <p:sldId id="263" r:id="rId2"/>
    <p:sldId id="257" r:id="rId3"/>
    <p:sldId id="258" r:id="rId4"/>
    <p:sldId id="259" r:id="rId5"/>
    <p:sldId id="324" r:id="rId6"/>
    <p:sldId id="271" r:id="rId7"/>
    <p:sldId id="272" r:id="rId8"/>
    <p:sldId id="273" r:id="rId9"/>
    <p:sldId id="274" r:id="rId10"/>
    <p:sldId id="330" r:id="rId11"/>
    <p:sldId id="276" r:id="rId12"/>
    <p:sldId id="280" r:id="rId13"/>
    <p:sldId id="331" r:id="rId14"/>
    <p:sldId id="329" r:id="rId15"/>
    <p:sldId id="346" r:id="rId16"/>
    <p:sldId id="347" r:id="rId17"/>
    <p:sldId id="348" r:id="rId18"/>
    <p:sldId id="326" r:id="rId19"/>
    <p:sldId id="349" r:id="rId20"/>
    <p:sldId id="350" r:id="rId21"/>
    <p:sldId id="351" r:id="rId22"/>
    <p:sldId id="352" r:id="rId23"/>
    <p:sldId id="353" r:id="rId24"/>
    <p:sldId id="354" r:id="rId25"/>
    <p:sldId id="356" r:id="rId26"/>
    <p:sldId id="357" r:id="rId27"/>
    <p:sldId id="355" r:id="rId28"/>
    <p:sldId id="358" r:id="rId29"/>
    <p:sldId id="359" r:id="rId30"/>
    <p:sldId id="321" r:id="rId31"/>
    <p:sldId id="332" r:id="rId32"/>
    <p:sldId id="261" r:id="rId33"/>
    <p:sldId id="333" r:id="rId34"/>
    <p:sldId id="318" r:id="rId35"/>
    <p:sldId id="319" r:id="rId36"/>
    <p:sldId id="335" r:id="rId37"/>
    <p:sldId id="336" r:id="rId38"/>
    <p:sldId id="264" r:id="rId39"/>
    <p:sldId id="337" r:id="rId40"/>
    <p:sldId id="338" r:id="rId41"/>
    <p:sldId id="265" r:id="rId42"/>
    <p:sldId id="266" r:id="rId43"/>
    <p:sldId id="268" r:id="rId44"/>
    <p:sldId id="339" r:id="rId45"/>
    <p:sldId id="340" r:id="rId46"/>
    <p:sldId id="360" r:id="rId47"/>
    <p:sldId id="342" r:id="rId48"/>
    <p:sldId id="343" r:id="rId49"/>
    <p:sldId id="328" r:id="rId50"/>
    <p:sldId id="345" r:id="rId51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4C632D-D3BD-C142-B93F-C90E6BDD7C20}" v="11" dt="2022-05-26T18:32:04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0"/>
    <p:restoredTop sz="84041"/>
  </p:normalViewPr>
  <p:slideViewPr>
    <p:cSldViewPr snapToGrid="0" snapToObjects="1">
      <p:cViewPr varScale="1">
        <p:scale>
          <a:sx n="106" d="100"/>
          <a:sy n="106" d="100"/>
        </p:scale>
        <p:origin x="109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4fd4040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4fd4040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4fd4040f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4fd4040f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512a5c7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512a5c7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4fd4040f6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4fd4040f6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4fd4040f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4fd4040f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4fd4040f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4fd4040f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4fd4040f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4fd4040f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4fd4040f6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4fd4040f6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4fd4040f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4fd4040f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08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4fd4040f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4fd4040f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512a5c7e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512a5c7e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512a5c7e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512a5c7e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512a5c7e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512a5c7e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fastq/fasta data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12a5c7e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512a5c7e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512a5c7e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512a5c7e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4fd4040f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4fd4040f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6F72-D695-C64D-92C7-9E20362A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70587-F206-C36A-AE79-120A95742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CF11F-0AD9-2F9B-EA71-3167E54E4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E2071-5B71-994B-E5D7-F10536A98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790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3373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  <p:sldLayoutId id="2147483673" r:id="rId10"/>
  </p:sldLayoutIdLst>
  <p:hf hdr="0" ftr="0" dt="0"/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/>
          <p:cNvSpPr txBox="1">
            <a:spLocks/>
          </p:cNvSpPr>
          <p:nvPr/>
        </p:nvSpPr>
        <p:spPr>
          <a:xfrm>
            <a:off x="930768" y="1333619"/>
            <a:ext cx="7282461" cy="28739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60000" lnSpcReduction="20000"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900" b="1" dirty="0"/>
              <a:t>Introduction to UNIX and RNA-seq Repositories</a:t>
            </a:r>
          </a:p>
          <a:p>
            <a:pPr algn="ctr"/>
            <a:endParaRPr lang="en-US" sz="5400" b="1" dirty="0"/>
          </a:p>
          <a:p>
            <a:r>
              <a:rPr lang="en-US" sz="5300" b="1" dirty="0"/>
              <a:t>June 1</a:t>
            </a:r>
            <a:r>
              <a:rPr lang="en-US" sz="5300" b="1" baseline="30000" dirty="0"/>
              <a:t>st</a:t>
            </a:r>
            <a:r>
              <a:rPr lang="en-US" sz="5300" b="1" dirty="0"/>
              <a:t> 2026</a:t>
            </a:r>
          </a:p>
          <a:p>
            <a:endParaRPr lang="en-US" sz="3400" b="1" dirty="0"/>
          </a:p>
          <a:p>
            <a:pPr>
              <a:lnSpc>
                <a:spcPct val="120000"/>
              </a:lnSpc>
            </a:pPr>
            <a:r>
              <a:rPr lang="en-US" sz="3400" b="1" dirty="0"/>
              <a:t>Arsham Mikaeili Namini</a:t>
            </a:r>
          </a:p>
          <a:p>
            <a:pPr>
              <a:lnSpc>
                <a:spcPct val="120000"/>
              </a:lnSpc>
            </a:pPr>
            <a:r>
              <a:rPr lang="en-US" sz="3400" b="1" dirty="0"/>
              <a:t>Zahra </a:t>
            </a:r>
            <a:r>
              <a:rPr lang="en-US" sz="3400" b="1" dirty="0" err="1"/>
              <a:t>Tavakol</a:t>
            </a:r>
            <a:endParaRPr lang="en-US" sz="3400" b="1" dirty="0"/>
          </a:p>
        </p:txBody>
      </p:sp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F0EC9481-395F-B0B1-B078-0A75C9A3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855" y="5385347"/>
            <a:ext cx="4056488" cy="896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C05164-1C02-0048-11F3-08244347D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1" y="3870547"/>
            <a:ext cx="3483377" cy="1924458"/>
          </a:xfrm>
          <a:prstGeom prst="rect">
            <a:avLst/>
          </a:prstGeom>
        </p:spPr>
      </p:pic>
      <p:pic>
        <p:nvPicPr>
          <p:cNvPr id="2" name="Picture 1" descr="Logo-RI-MUHC – Pai Global TB Group">
            <a:extLst>
              <a:ext uri="{FF2B5EF4-FFF2-40B4-BE49-F238E27FC236}">
                <a16:creationId xmlns:a16="http://schemas.microsoft.com/office/drawing/2014/main" id="{7C6B2ED7-6614-90A6-3E26-6727CB789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07" y="5557090"/>
            <a:ext cx="4149391" cy="583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848D63-4B1A-0125-3F5E-DA12349F6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838" y="4402681"/>
            <a:ext cx="4680522" cy="7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4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29190"/>
            <a:ext cx="5968784" cy="519684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" sz="2400" dirty="0">
                <a:solidFill>
                  <a:schemeClr val="dk1"/>
                </a:solidFill>
              </a:rPr>
              <a:t>Setup &amp; Troubleshooting</a:t>
            </a:r>
            <a:endParaRPr sz="2400" dirty="0">
              <a:solidFill>
                <a:schemeClr val="dk1"/>
              </a:solidFill>
            </a:endParaRPr>
          </a:p>
          <a:p>
            <a:pPr lvl="1"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UNIX availability check</a:t>
            </a:r>
            <a:endParaRPr dirty="0">
              <a:solidFill>
                <a:schemeClr val="dk1"/>
              </a:solidFill>
            </a:endParaRPr>
          </a:p>
          <a:p>
            <a:pPr lvl="1"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Fix PATH / permissions</a:t>
            </a:r>
            <a:endParaRPr lang="en-US" sz="24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</a:pPr>
            <a:r>
              <a:rPr lang="en-US" sz="2400" dirty="0">
                <a:solidFill>
                  <a:schemeClr val="dk1"/>
                </a:solidFill>
              </a:rPr>
              <a:t>Module 1 — UNIX Basics</a:t>
            </a:r>
          </a:p>
          <a:p>
            <a:pPr lvl="1">
              <a:lnSpc>
                <a:spcPct val="115000"/>
              </a:lnSpc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File management and navigation</a:t>
            </a:r>
          </a:p>
          <a:p>
            <a:pPr lvl="1">
              <a:lnSpc>
                <a:spcPct val="115000"/>
              </a:lnSpc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File inspection</a:t>
            </a:r>
          </a:p>
          <a:p>
            <a:pPr lvl="1">
              <a:lnSpc>
                <a:spcPct val="115000"/>
              </a:lnSpc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Pipes and redirects</a:t>
            </a:r>
          </a:p>
          <a:p>
            <a:pPr lvl="1">
              <a:lnSpc>
                <a:spcPct val="115000"/>
              </a:lnSpc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Text search</a:t>
            </a:r>
            <a:endParaRPr sz="2400" dirty="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" sz="2400" dirty="0">
                <a:solidFill>
                  <a:schemeClr val="dk1"/>
                </a:solidFill>
              </a:rPr>
              <a:t>Module 2 — GEO Basics</a:t>
            </a:r>
            <a:endParaRPr sz="2400" dirty="0">
              <a:solidFill>
                <a:schemeClr val="dk1"/>
              </a:solidFill>
            </a:endParaRPr>
          </a:p>
          <a:p>
            <a:pPr lvl="1"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Accession types</a:t>
            </a:r>
            <a:endParaRPr dirty="0">
              <a:solidFill>
                <a:schemeClr val="dk1"/>
              </a:solidFill>
            </a:endParaRPr>
          </a:p>
          <a:p>
            <a:pPr lvl="1"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Common files</a:t>
            </a:r>
            <a:endParaRPr dirty="0">
              <a:solidFill>
                <a:schemeClr val="dk1"/>
              </a:solidFill>
            </a:endParaRPr>
          </a:p>
          <a:p>
            <a:pPr lvl="1"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FTP/HTTPS &amp; Data Download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413990"/>
            <a:ext cx="78867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3303" dirty="0">
                <a:latin typeface="Calibri"/>
                <a:ea typeface="Calibri"/>
                <a:cs typeface="Calibri"/>
                <a:sym typeface="Calibri"/>
              </a:rPr>
              <a:t>Outline</a:t>
            </a:r>
            <a:endParaRPr sz="330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387871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r>
              <a:rPr lang="en" dirty="0"/>
              <a:t>Setup &amp; Troubleshooting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3</a:t>
            </a:fld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1553858"/>
            <a:ext cx="6664833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2000" i="1" dirty="0">
                <a:solidFill>
                  <a:schemeClr val="dk1"/>
                </a:solidFill>
              </a:rPr>
              <a:t>pwd</a:t>
            </a:r>
            <a:endParaRPr sz="2000" i="1" dirty="0">
              <a:solidFill>
                <a:schemeClr val="dk1"/>
              </a:solidFill>
            </a:endParaRPr>
          </a:p>
          <a:p>
            <a:r>
              <a:rPr lang="en" sz="2000" i="1" dirty="0">
                <a:solidFill>
                  <a:schemeClr val="dk1"/>
                </a:solidFill>
              </a:rPr>
              <a:t>mkdir -p ~/workshop/data &amp;&amp; cd ~/workshop</a:t>
            </a:r>
            <a:endParaRPr sz="2000" i="1" dirty="0">
              <a:solidFill>
                <a:schemeClr val="dk1"/>
              </a:solidFill>
            </a:endParaRPr>
          </a:p>
          <a:p>
            <a:r>
              <a:rPr lang="en" sz="2000" i="1" dirty="0">
                <a:solidFill>
                  <a:schemeClr val="dk1"/>
                </a:solidFill>
              </a:rPr>
              <a:t>which bash zsh curl wget gzip tar || true</a:t>
            </a:r>
            <a:endParaRPr sz="2000" i="1" dirty="0">
              <a:solidFill>
                <a:schemeClr val="dk1"/>
              </a:solidFill>
            </a:endParaRPr>
          </a:p>
          <a:p>
            <a:endParaRPr sz="2000" i="1" dirty="0">
              <a:solidFill>
                <a:schemeClr val="dk1"/>
              </a:solidFill>
            </a:endParaRPr>
          </a:p>
          <a:p>
            <a:endParaRPr sz="2000" i="1" dirty="0"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55" y="3254133"/>
            <a:ext cx="844474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4</a:t>
            </a:fld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2057676"/>
            <a:ext cx="8839201" cy="35002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152400" y="448939"/>
            <a:ext cx="2605500" cy="156963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800" i="1">
                <a:solidFill>
                  <a:schemeClr val="dk1"/>
                </a:solidFill>
              </a:rPr>
              <a:t>wsl --install -d Ubuntu</a:t>
            </a:r>
            <a:endParaRPr sz="1800" i="1">
              <a:solidFill>
                <a:schemeClr val="dk1"/>
              </a:solidFill>
            </a:endParaRPr>
          </a:p>
          <a:p>
            <a:endParaRPr sz="1800" i="1">
              <a:solidFill>
                <a:schemeClr val="dk1"/>
              </a:solidFill>
            </a:endParaRPr>
          </a:p>
          <a:p>
            <a:r>
              <a:rPr lang="en" sz="1800" i="1">
                <a:solidFill>
                  <a:schemeClr val="dk1"/>
                </a:solidFill>
              </a:rPr>
              <a:t>wsl -l -v</a:t>
            </a:r>
            <a:endParaRPr sz="1800" i="1">
              <a:solidFill>
                <a:schemeClr val="dk1"/>
              </a:solidFill>
            </a:endParaRPr>
          </a:p>
          <a:p>
            <a:r>
              <a:rPr lang="en" sz="1800" i="1">
                <a:solidFill>
                  <a:schemeClr val="dk1"/>
                </a:solidFill>
              </a:rPr>
              <a:t>wsl -d Ubuntu</a:t>
            </a:r>
            <a:endParaRPr sz="1800" i="1">
              <a:solidFill>
                <a:schemeClr val="dk1"/>
              </a:solidFill>
            </a:endParaRPr>
          </a:p>
          <a:p>
            <a:r>
              <a:rPr lang="en" sz="1800" i="1">
                <a:solidFill>
                  <a:schemeClr val="dk1"/>
                </a:solidFill>
              </a:rPr>
              <a:t>exit or Ctrl+D → To exit</a:t>
            </a:r>
            <a:endParaRPr sz="1800" i="1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746000" y="485450"/>
            <a:ext cx="3000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800" i="1">
                <a:solidFill>
                  <a:schemeClr val="dk1"/>
                </a:solidFill>
              </a:rPr>
              <a:t>wsl --unregister "Ubuntu"</a:t>
            </a:r>
            <a:endParaRPr sz="2000"/>
          </a:p>
        </p:txBody>
      </p:sp>
      <p:sp>
        <p:nvSpPr>
          <p:cNvPr id="81" name="Google Shape;81;p16"/>
          <p:cNvSpPr txBox="1"/>
          <p:nvPr/>
        </p:nvSpPr>
        <p:spPr>
          <a:xfrm>
            <a:off x="3746000" y="1203408"/>
            <a:ext cx="5562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800" dirty="0">
                <a:solidFill>
                  <a:schemeClr val="dk1"/>
                </a:solidFill>
              </a:rPr>
              <a:t>sudo apt update -y</a:t>
            </a:r>
            <a:endParaRPr sz="1800" dirty="0">
              <a:solidFill>
                <a:schemeClr val="dk1"/>
              </a:solidFill>
            </a:endParaRPr>
          </a:p>
          <a:p>
            <a:r>
              <a:rPr lang="en" sz="1800" dirty="0">
                <a:solidFill>
                  <a:schemeClr val="dk1"/>
                </a:solidFill>
              </a:rPr>
              <a:t>sudo apt install -y curl wget gzip tar grep gawk sed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6C48-7C00-AE30-47FF-4F7FAD78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6;p17">
            <a:extLst>
              <a:ext uri="{FF2B5EF4-FFF2-40B4-BE49-F238E27FC236}">
                <a16:creationId xmlns:a16="http://schemas.microsoft.com/office/drawing/2014/main" id="{D1DE8120-3500-D1C9-EC25-F555E3DDB101}"/>
              </a:ext>
            </a:extLst>
          </p:cNvPr>
          <p:cNvSpPr txBox="1">
            <a:spLocks/>
          </p:cNvSpPr>
          <p:nvPr/>
        </p:nvSpPr>
        <p:spPr>
          <a:xfrm>
            <a:off x="477150" y="2403450"/>
            <a:ext cx="8346300" cy="181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dk1"/>
                </a:solidFill>
              </a:rPr>
              <a:t>Module 1</a:t>
            </a:r>
          </a:p>
          <a:p>
            <a:pPr marL="0" indent="0" algn="ctr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4800" dirty="0">
                <a:solidFill>
                  <a:schemeClr val="dk1"/>
                </a:solidFill>
              </a:rPr>
              <a:t>UNIX Basics</a:t>
            </a: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sz="4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68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6</a:t>
            </a:fld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45" y="356316"/>
            <a:ext cx="7952310" cy="5492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38" y="1058176"/>
            <a:ext cx="785412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8</a:t>
            </a:fld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00" y="1249789"/>
            <a:ext cx="8094202" cy="43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9</a:t>
            </a:fld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988" y="1009650"/>
            <a:ext cx="75060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682E-E87B-38E8-E672-835E5EA5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File management &amp; navigation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3C195-8954-8FB0-A9FB-3A551EE2DD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E12DD-74AA-2BA1-D8E5-17B85F07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77" y="2196104"/>
            <a:ext cx="7200246" cy="374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22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11</a:t>
            </a:fld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001" y="1009650"/>
            <a:ext cx="689599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12</a:t>
            </a:fld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950" y="1009651"/>
            <a:ext cx="703810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367CF-9A0F-7E2E-30DB-DDA93276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/>
              <a:t>File inspection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3B95F-A7B6-09BE-4B8B-C829D58E78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02AC2D-D106-2189-B388-55DDDC8AE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495979"/>
            <a:ext cx="4652186" cy="179774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9F6D7FE-2272-65AB-B679-14977D533D5E}"/>
              </a:ext>
            </a:extLst>
          </p:cNvPr>
          <p:cNvSpPr txBox="1">
            <a:spLocks/>
          </p:cNvSpPr>
          <p:nvPr/>
        </p:nvSpPr>
        <p:spPr>
          <a:xfrm>
            <a:off x="311700" y="3564275"/>
            <a:ext cx="8520600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7500"/>
          </a:bodyPr>
          <a:lstStyle>
            <a:lvl1pPr lvl="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3600" b="1" dirty="0"/>
              <a:t>Pipes and redirects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564952-89D1-0857-E47F-DD630F9E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4327875"/>
            <a:ext cx="6706797" cy="159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160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6C66E-74B3-56F2-5960-CF2AAC6C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A11DAE33-5EF7-1DEF-A83A-E405CCB9C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" sz="4000" dirty="0"/>
              <a:t>Exercise 1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9274E-E015-B047-D331-9A99EEE5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313807"/>
            <a:ext cx="7186380" cy="334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48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7A2B-C80D-EF62-0C7E-DEFF0F35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49D27513-4CA8-7AFF-7825-44FA8FF26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" sz="4000" dirty="0"/>
              <a:t>Pattern Matching</a:t>
            </a:r>
            <a:br>
              <a:rPr lang="en" sz="4000" dirty="0"/>
            </a:br>
            <a:br>
              <a:rPr lang="en" sz="4000" dirty="0"/>
            </a:b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F38E7-04C4-6BB9-C2DD-F64539985816}"/>
              </a:ext>
            </a:extLst>
          </p:cNvPr>
          <p:cNvSpPr txBox="1"/>
          <p:nvPr/>
        </p:nvSpPr>
        <p:spPr>
          <a:xfrm>
            <a:off x="311700" y="2449012"/>
            <a:ext cx="7891670" cy="264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Find lines. Then describe lines. Then compute on them.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1F2328"/>
              </a:solidFill>
              <a:effectLst/>
              <a:latin typeface="Helvetica" pitchFamily="2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  <a:latin typeface="Helvetica" pitchFamily="2" charset="0"/>
              </a:rPr>
              <a:t>Flow:</a:t>
            </a: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 grep → regex → awk → mini-capstone (solve today's Wordle).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1F2328"/>
              </a:solidFill>
              <a:effectLst/>
              <a:latin typeface="Helvetica" pitchFamily="2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By the end of this module you should be able to look at a CSV, a FASTQ, or any plain-text file and pull out exactly the rows you want — without opening the file in Excel.</a:t>
            </a:r>
          </a:p>
        </p:txBody>
      </p:sp>
    </p:spTree>
    <p:extLst>
      <p:ext uri="{BB962C8B-B14F-4D97-AF65-F5344CB8AC3E}">
        <p14:creationId xmlns:p14="http://schemas.microsoft.com/office/powerpoint/2010/main" val="2580373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2E79-92BB-938C-AA09-3F43D9DD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8754C88C-F737-870D-3C01-289A407412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sz="4000" b="1" dirty="0"/>
              <a:t>grep </a:t>
            </a:r>
            <a:r>
              <a:rPr lang="en-US" sz="4000" dirty="0"/>
              <a:t>— </a:t>
            </a:r>
            <a:r>
              <a:rPr lang="en-US" sz="2800" dirty="0"/>
              <a:t>"global regular expression print"</a:t>
            </a:r>
            <a:br>
              <a:rPr lang="en-US" sz="4400" b="1" dirty="0"/>
            </a:br>
            <a:br>
              <a:rPr lang="en" sz="2800" dirty="0"/>
            </a:br>
            <a:br>
              <a:rPr lang="en" sz="4000" dirty="0"/>
            </a:b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76651-09F0-0F20-BD71-FC00C2F415C7}"/>
              </a:ext>
            </a:extLst>
          </p:cNvPr>
          <p:cNvSpPr txBox="1"/>
          <p:nvPr/>
        </p:nvSpPr>
        <p:spPr>
          <a:xfrm>
            <a:off x="311700" y="2449012"/>
            <a:ext cx="7891670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grep reads a file top to bottom and prints every line that contains the pattern you give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F8B05-6F62-9574-454C-BB37FC06C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309295"/>
            <a:ext cx="2996984" cy="7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21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5978-4B0C-E331-CA3C-23548480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4E127535-7A7E-AE1F-5CA8-538EF779E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buClr>
                <a:schemeClr val="dk1"/>
              </a:buClr>
              <a:buSzPct val="39285"/>
            </a:pPr>
            <a:r>
              <a:rPr lang="en-US" sz="4000" b="1" dirty="0"/>
              <a:t>grep </a:t>
            </a:r>
            <a:r>
              <a:rPr lang="en-US" sz="4000" dirty="0"/>
              <a:t>— </a:t>
            </a:r>
            <a:r>
              <a:rPr lang="en-US" sz="2800" dirty="0"/>
              <a:t>"global regular expression print"</a:t>
            </a:r>
            <a:br>
              <a:rPr lang="en-US" sz="4400" b="1" dirty="0"/>
            </a:br>
            <a:br>
              <a:rPr lang="en" sz="2800" dirty="0"/>
            </a:br>
            <a:br>
              <a:rPr lang="en" sz="4000" dirty="0"/>
            </a:b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35AAA-11E6-2543-220E-94394F572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86" y="2128177"/>
            <a:ext cx="5744627" cy="30569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717A5E-D395-B6D3-AF3D-3B8988755E0C}"/>
              </a:ext>
            </a:extLst>
          </p:cNvPr>
          <p:cNvSpPr txBox="1"/>
          <p:nvPr/>
        </p:nvSpPr>
        <p:spPr>
          <a:xfrm>
            <a:off x="311700" y="5438341"/>
            <a:ext cx="789167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Full list can be seen in grep --help command</a:t>
            </a:r>
          </a:p>
        </p:txBody>
      </p:sp>
    </p:spTree>
    <p:extLst>
      <p:ext uri="{BB962C8B-B14F-4D97-AF65-F5344CB8AC3E}">
        <p14:creationId xmlns:p14="http://schemas.microsoft.com/office/powerpoint/2010/main" val="2212221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CDF08-8752-AB23-2564-60CCB6D0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>
            <a:extLst>
              <a:ext uri="{FF2B5EF4-FFF2-40B4-BE49-F238E27FC236}">
                <a16:creationId xmlns:a16="http://schemas.microsoft.com/office/drawing/2014/main" id="{042773E0-FDCD-561B-0704-541D8E7DB870}"/>
              </a:ext>
            </a:extLst>
          </p:cNvPr>
          <p:cNvSpPr txBox="1">
            <a:spLocks/>
          </p:cNvSpPr>
          <p:nvPr/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25000" lnSpcReduction="20000"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200" dirty="0"/>
              <a:t>Mini Exercise — grep on a small CSV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991D65-BA34-E54A-7AB5-8FD778B284E1}"/>
              </a:ext>
            </a:extLst>
          </p:cNvPr>
          <p:cNvSpPr txBox="1"/>
          <p:nvPr/>
        </p:nvSpPr>
        <p:spPr>
          <a:xfrm>
            <a:off x="311700" y="1874975"/>
            <a:ext cx="7891670" cy="923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file</a:t>
            </a:r>
            <a:r>
              <a:rPr lang="en-US" dirty="0">
                <a:latin typeface="Monaco" pitchFamily="2" charset="77"/>
              </a:rPr>
              <a:t>: Exercises/data/</a:t>
            </a:r>
            <a:r>
              <a:rPr lang="en-US" dirty="0" err="1">
                <a:latin typeface="Monaco" pitchFamily="2" charset="77"/>
              </a:rPr>
              <a:t>happiness.csv</a:t>
            </a:r>
            <a:r>
              <a:rPr lang="en-US" dirty="0">
                <a:latin typeface="Monaco" pitchFamily="2" charset="77"/>
              </a:rPr>
              <a:t> </a:t>
            </a:r>
            <a:r>
              <a:rPr lang="en-US" dirty="0"/>
              <a:t>— 60 rows of country / gender / mean happiness / sample size.</a:t>
            </a:r>
          </a:p>
          <a:p>
            <a:r>
              <a:rPr lang="en-US" dirty="0"/>
              <a:t>Before you run each command, predict what you'll get.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D9441C-1B02-EE7B-6526-FE2E024BE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920331"/>
            <a:ext cx="5548296" cy="330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780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3B97-6C44-D52A-D5A5-28F6A596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7E631448-4CFA-7291-CCEC-7EF3CFFBF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Regex — </a:t>
            </a:r>
            <a:r>
              <a:rPr lang="en-US" sz="3200" b="1" dirty="0"/>
              <a:t>describing the </a:t>
            </a:r>
            <a:r>
              <a:rPr lang="en-US" sz="3200" b="1" i="1" dirty="0"/>
              <a:t>shape</a:t>
            </a:r>
            <a:r>
              <a:rPr lang="en-US" sz="3200" b="1" dirty="0"/>
              <a:t> of text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345BD-520D-E68C-EB0F-8561BC8CE8F6}"/>
              </a:ext>
            </a:extLst>
          </p:cNvPr>
          <p:cNvSpPr txBox="1"/>
          <p:nvPr/>
        </p:nvSpPr>
        <p:spPr>
          <a:xfrm>
            <a:off x="311700" y="2472734"/>
            <a:ext cx="8363068" cy="280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`grep Male` only finds the literal letters M-a-l-e. Real questions sound like: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"lines that </a:t>
            </a:r>
            <a:r>
              <a:rPr lang="en-US" b="1" i="0" dirty="0">
                <a:solidFill>
                  <a:srgbClr val="1F2328"/>
                </a:solidFill>
                <a:effectLst/>
                <a:latin typeface="Helvetica" pitchFamily="2" charset="0"/>
              </a:rPr>
              <a:t>start</a:t>
            </a: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 with F"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"lines that </a:t>
            </a:r>
            <a:r>
              <a:rPr lang="en-US" b="1" i="0" dirty="0">
                <a:solidFill>
                  <a:srgbClr val="1F2328"/>
                </a:solidFill>
                <a:effectLst/>
                <a:latin typeface="Helvetica" pitchFamily="2" charset="0"/>
              </a:rPr>
              <a:t>end</a:t>
            </a: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 in a 4-digit number"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"country codes that are exactly 2 uppercase letters"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"5-letter English words starting with 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Helvetica" pitchFamily="2" charset="0"/>
              </a:rPr>
              <a:t>cr</a:t>
            </a: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"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For those you need a </a:t>
            </a:r>
            <a:r>
              <a:rPr lang="en-US" b="1" i="0" dirty="0">
                <a:solidFill>
                  <a:srgbClr val="1F2328"/>
                </a:solidFill>
                <a:effectLst/>
                <a:latin typeface="Helvetica" pitchFamily="2" charset="0"/>
              </a:rPr>
              <a:t>regular expression</a:t>
            </a: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 — a tiny language for describing the </a:t>
            </a:r>
            <a:r>
              <a:rPr lang="en-US" b="0" i="1" dirty="0">
                <a:solidFill>
                  <a:srgbClr val="1F2328"/>
                </a:solidFill>
                <a:effectLst/>
                <a:latin typeface="Helvetica" pitchFamily="2" charset="0"/>
              </a:rPr>
              <a:t>shape</a:t>
            </a:r>
            <a:r>
              <a:rPr lang="en-US" b="0" i="0" dirty="0">
                <a:solidFill>
                  <a:srgbClr val="1F2328"/>
                </a:solidFill>
                <a:effectLst/>
                <a:latin typeface="Helvetica" pitchFamily="2" charset="0"/>
              </a:rPr>
              <a:t> of text.</a:t>
            </a:r>
          </a:p>
        </p:txBody>
      </p:sp>
    </p:spTree>
    <p:extLst>
      <p:ext uri="{BB962C8B-B14F-4D97-AF65-F5344CB8AC3E}">
        <p14:creationId xmlns:p14="http://schemas.microsoft.com/office/powerpoint/2010/main" val="1393456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C8D0D-C063-46E0-B7FA-7E67AE12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D556AE2D-9596-5E82-7C7F-230E1A8D40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/>
              <a:t>Regex — </a:t>
            </a:r>
            <a:r>
              <a:rPr lang="en-US" sz="3200" b="1"/>
              <a:t>describing the </a:t>
            </a:r>
            <a:r>
              <a:rPr lang="en-US" sz="3200" b="1" i="1"/>
              <a:t>shape</a:t>
            </a:r>
            <a:r>
              <a:rPr lang="en-US" sz="3200" b="1"/>
              <a:t> of text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32818-D0DC-5076-FAE0-D0397E41B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8" y="2364357"/>
            <a:ext cx="8898263" cy="195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34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1944-0B1F-7659-90CE-A8151A47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C6391E86-27D5-0344-A032-4A2DC2E84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Regex — solve today's Wordle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19076-F9E6-8BFB-F5E8-48D51611773D}"/>
              </a:ext>
            </a:extLst>
          </p:cNvPr>
          <p:cNvSpPr txBox="1"/>
          <p:nvPr/>
        </p:nvSpPr>
        <p:spPr>
          <a:xfrm>
            <a:off x="311700" y="2095913"/>
            <a:ext cx="8638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Wordle gives you a 5-letter word. After each guess you learn, per letter: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311457-9858-F963-FC7D-8FB7EE282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681329"/>
            <a:ext cx="7772400" cy="230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41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05853-1BE2-EC2C-B705-D56A01D4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3F260C26-3875-3BC8-931D-7F638E4A5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Regex — solve today's Wordle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C31BE-3B73-9D57-0108-84079C6B7483}"/>
              </a:ext>
            </a:extLst>
          </p:cNvPr>
          <p:cNvSpPr txBox="1"/>
          <p:nvPr/>
        </p:nvSpPr>
        <p:spPr>
          <a:xfrm>
            <a:off x="311700" y="2095913"/>
            <a:ext cx="8638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Wordle gives you a 5-letter word. After each guess you learn, per letter: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204DBC-A5EC-B417-C0EF-4D9A35A1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716961"/>
            <a:ext cx="8683742" cy="21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90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5A05-BF93-A274-DA4F-C34434FE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0E4B5C04-ED9B-02C7-C42D-1EB72728F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Regex — solve today's Wordle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807D7-1EA3-58BF-D74A-581523F2F8A8}"/>
              </a:ext>
            </a:extLst>
          </p:cNvPr>
          <p:cNvSpPr txBox="1"/>
          <p:nvPr/>
        </p:nvSpPr>
        <p:spPr>
          <a:xfrm>
            <a:off x="311700" y="2095913"/>
            <a:ext cx="8638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Move to the terminal and wordle website, good luck!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EF0B5-E0A3-72DE-DE30-0C6C5C0B1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716961"/>
            <a:ext cx="48514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20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31A0-CE71-C19B-1EF9-B782F01D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48E5BB50-14E8-7DEB-B411-A00B60CCD9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grep finds lines. awk works with fields.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F26FA-3606-DDA3-46A1-C1B8357DF9D9}"/>
              </a:ext>
            </a:extLst>
          </p:cNvPr>
          <p:cNvSpPr txBox="1"/>
          <p:nvPr/>
        </p:nvSpPr>
        <p:spPr>
          <a:xfrm>
            <a:off x="395921" y="2298878"/>
            <a:ext cx="800212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Our data is tabular: CSVs, count matrices, FASTQ records. We often want: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pull out column 3 of a CSV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count rows where column 5 ≥ 1000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compute the average of column 2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print field N for every record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000" b="0" i="0" dirty="0">
                <a:solidFill>
                  <a:srgbClr val="1F2328"/>
                </a:solidFill>
                <a:effectLst/>
                <a:latin typeface="Helvetica" pitchFamily="2" charset="0"/>
              </a:rPr>
              <a:t>grep can't do any of those. awk can.</a:t>
            </a:r>
          </a:p>
        </p:txBody>
      </p:sp>
    </p:spTree>
    <p:extLst>
      <p:ext uri="{BB962C8B-B14F-4D97-AF65-F5344CB8AC3E}">
        <p14:creationId xmlns:p14="http://schemas.microsoft.com/office/powerpoint/2010/main" val="283221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9B93-89ED-CBBE-CB9D-1B1FE8940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E12387E2-0A43-C34E-DF99-D88EAB24FE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awk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B2BB8-266E-3828-4953-C682F2CB8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88" y="2100513"/>
            <a:ext cx="6077124" cy="132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05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EADD-49DF-3519-0B6A-6CF23D4A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4B3AE827-DBB1-DE80-7F10-0EBF25B36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awk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0DE64-1EA8-BFE5-7392-C92A3AA17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4" y="2129590"/>
            <a:ext cx="6674723" cy="39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7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B876-FF2F-092D-E1F2-BE2C739B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B331F2FC-D175-17CB-8EE0-F1D1DCC55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awk – Mini Exercise  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888F-E446-B40C-865C-89CB3AF98152}"/>
              </a:ext>
            </a:extLst>
          </p:cNvPr>
          <p:cNvSpPr txBox="1"/>
          <p:nvPr/>
        </p:nvSpPr>
        <p:spPr>
          <a:xfrm>
            <a:off x="311700" y="2004415"/>
            <a:ext cx="6783923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file</a:t>
            </a:r>
            <a:r>
              <a:rPr lang="en-US" dirty="0">
                <a:latin typeface="Monaco" pitchFamily="2" charset="77"/>
              </a:rPr>
              <a:t>: Exercises/data/</a:t>
            </a:r>
            <a:r>
              <a:rPr lang="en-US" dirty="0" err="1">
                <a:latin typeface="Monaco" pitchFamily="2" charset="77"/>
              </a:rPr>
              <a:t>happiness.csv</a:t>
            </a:r>
            <a:r>
              <a:rPr lang="en-US" dirty="0">
                <a:latin typeface="Monaco" pitchFamily="2" charset="77"/>
              </a:rPr>
              <a:t> </a:t>
            </a:r>
            <a:r>
              <a:rPr lang="en-US" dirty="0"/>
              <a:t>— 60 rows of country / gender / mean happiness / sample size.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5AFE76-0B31-E372-D541-6DCFF3DDB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" y="2780442"/>
            <a:ext cx="8349916" cy="315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54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359E9-D82F-C195-9EF6-521475F3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02E192BF-9FE5-6F90-9FB3-F16824AFA7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awk – in FASTQ files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E9D56-2222-5942-EFDC-5B639C67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223836"/>
            <a:ext cx="6172534" cy="304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46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3B719-ABC3-A765-0190-D86A3A48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FD50DB17-05B2-6B23-046C-8F96EE886C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awk – in FASTQ files</a:t>
            </a:r>
            <a:br>
              <a:rPr lang="en-US" sz="4000" b="1" dirty="0"/>
            </a:br>
            <a:r>
              <a:rPr lang="en-US" sz="2400" b="1" dirty="0"/>
              <a:t>lets do some awk practice on the </a:t>
            </a:r>
            <a:r>
              <a:rPr lang="en-US" sz="2400" b="1" dirty="0" err="1"/>
              <a:t>fastq</a:t>
            </a:r>
            <a:r>
              <a:rPr lang="en-US" sz="2400" b="1" dirty="0"/>
              <a:t> files later </a:t>
            </a:r>
            <a:r>
              <a:rPr lang="en-US" sz="2400" b="1"/>
              <a:t>(slide 46)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C4BE5-9AB4-FE1A-40FC-521C47CF2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387539"/>
            <a:ext cx="6125195" cy="415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41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319C-D0BE-A15B-CB1A-37AF92CA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/>
          </p:cNvSpPr>
          <p:nvPr/>
        </p:nvSpPr>
        <p:spPr>
          <a:xfrm>
            <a:off x="477150" y="2403450"/>
            <a:ext cx="8346300" cy="181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dk1"/>
                </a:solidFill>
              </a:rPr>
              <a:t>Module 1</a:t>
            </a:r>
          </a:p>
          <a:p>
            <a:pPr marL="0" indent="0" algn="ctr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4800" dirty="0">
                <a:solidFill>
                  <a:schemeClr val="dk1"/>
                </a:solidFill>
              </a:rPr>
              <a:t>GEO Basics</a:t>
            </a: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sz="4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117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4DB4-BF84-8D85-5693-EFEF0792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GEO?</a:t>
            </a:r>
            <a:br>
              <a:rPr lang="en-US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9913C-AC41-D6CF-D32D-4A7266DAE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823733"/>
            <a:ext cx="8520600" cy="4555200"/>
          </a:xfrm>
        </p:spPr>
        <p:txBody>
          <a:bodyPr>
            <a:normAutofit/>
          </a:bodyPr>
          <a:lstStyle/>
          <a:p>
            <a:r>
              <a:rPr lang="en-US" sz="2400" b="1" dirty="0"/>
              <a:t>Gene Expression Omnibus</a:t>
            </a:r>
            <a:r>
              <a:rPr lang="en-US" sz="2400" dirty="0"/>
              <a:t> — NCBI's public repository for functional genomics data</a:t>
            </a:r>
          </a:p>
          <a:p>
            <a:r>
              <a:rPr lang="en-US" sz="2400" dirty="0"/>
              <a:t>Anything published with sequencing data ends up here (by NIH mandate)</a:t>
            </a:r>
          </a:p>
          <a:p>
            <a:r>
              <a:rPr lang="en-US" sz="2400" dirty="0"/>
              <a:t>Two layers of data:</a:t>
            </a:r>
          </a:p>
          <a:p>
            <a:pPr lvl="1"/>
            <a:r>
              <a:rPr lang="en-US" sz="2000" b="1" dirty="0"/>
              <a:t>Processed</a:t>
            </a:r>
            <a:r>
              <a:rPr lang="en-US" sz="2000" dirty="0"/>
              <a:t>: count matrices, normalized expression — ready to analyze</a:t>
            </a:r>
          </a:p>
          <a:p>
            <a:pPr lvl="1"/>
            <a:r>
              <a:rPr lang="en-US" sz="2000" b="1" dirty="0"/>
              <a:t>Raw</a:t>
            </a:r>
            <a:r>
              <a:rPr lang="en-US" sz="2000" dirty="0"/>
              <a:t>: the original FASTQ reads — sitting in SRA, linked from GEO</a:t>
            </a:r>
          </a:p>
          <a:p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684DD-0641-124C-6CFE-BE7208A545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2966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3088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r>
              <a:rPr lang="en" dirty="0"/>
              <a:t>GEO (Gene Expression Omnibus)</a:t>
            </a:r>
            <a:endParaRPr dirty="0"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32</a:t>
            </a:fld>
            <a:endParaRPr dirty="0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85" y="1158786"/>
            <a:ext cx="8194692" cy="4959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6447518" y="3795517"/>
            <a:ext cx="1572300" cy="242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116A-C153-2AD5-8ABD-F89D5101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Accession types — learn to read them</a:t>
            </a:r>
            <a:br>
              <a:rPr lang="en-US" b="1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1F310-9775-C202-E87D-E8854C13BA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98EB3-2466-1CBD-A01E-8BBDC826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80" y="1975103"/>
            <a:ext cx="7470240" cy="369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35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34</a:t>
            </a:fld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600" y="235115"/>
            <a:ext cx="6985858" cy="619579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174700" y="776770"/>
            <a:ext cx="1311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500" dirty="0">
                <a:solidFill>
                  <a:schemeClr val="dk1"/>
                </a:solidFill>
              </a:rPr>
              <a:t>GSE251845</a:t>
            </a:r>
            <a:endParaRPr sz="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35</a:t>
            </a:fld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rcRect r="9738"/>
          <a:stretch>
            <a:fillRect/>
          </a:stretch>
        </p:blipFill>
        <p:spPr>
          <a:xfrm>
            <a:off x="3820862" y="349956"/>
            <a:ext cx="4925946" cy="599510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24662" y="1151900"/>
            <a:ext cx="3796200" cy="3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800" b="1" dirty="0">
                <a:solidFill>
                  <a:schemeClr val="dk1"/>
                </a:solidFill>
              </a:rPr>
              <a:t>GEO accessions:</a:t>
            </a:r>
            <a:r>
              <a:rPr lang="en" sz="1800" dirty="0">
                <a:solidFill>
                  <a:schemeClr val="dk1"/>
                </a:solidFill>
              </a:rPr>
              <a:t> </a:t>
            </a:r>
            <a:r>
              <a:rPr lang="en" sz="18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GSE</a:t>
            </a:r>
            <a:r>
              <a:rPr lang="en" sz="1800" dirty="0">
                <a:solidFill>
                  <a:schemeClr val="dk1"/>
                </a:solidFill>
              </a:rPr>
              <a:t> (series), </a:t>
            </a:r>
            <a:r>
              <a:rPr lang="en" sz="18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GSM</a:t>
            </a:r>
            <a:r>
              <a:rPr lang="en" sz="1800" dirty="0">
                <a:solidFill>
                  <a:schemeClr val="dk1"/>
                </a:solidFill>
              </a:rPr>
              <a:t> (samples), </a:t>
            </a:r>
            <a:r>
              <a:rPr lang="en" sz="18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GPL</a:t>
            </a:r>
            <a:r>
              <a:rPr lang="en" sz="1800" dirty="0">
                <a:solidFill>
                  <a:schemeClr val="dk1"/>
                </a:solidFill>
              </a:rPr>
              <a:t> (platform)</a:t>
            </a:r>
            <a:br>
              <a:rPr lang="en" sz="1800" dirty="0">
                <a:solidFill>
                  <a:schemeClr val="dk1"/>
                </a:solidFill>
              </a:rPr>
            </a:br>
            <a:endParaRPr sz="1800" dirty="0">
              <a:solidFill>
                <a:schemeClr val="dk1"/>
              </a:solidFill>
            </a:endParaRPr>
          </a:p>
          <a:p>
            <a:r>
              <a:rPr lang="en" sz="1800" b="1" dirty="0">
                <a:solidFill>
                  <a:schemeClr val="dk1"/>
                </a:solidFill>
              </a:rPr>
              <a:t>Processed data:</a:t>
            </a:r>
            <a:r>
              <a:rPr lang="en" sz="1800" dirty="0">
                <a:solidFill>
                  <a:schemeClr val="dk1"/>
                </a:solidFill>
              </a:rPr>
              <a:t> Series Matrix / SOFT / tabular files</a:t>
            </a:r>
            <a:br>
              <a:rPr lang="en" sz="1800" dirty="0">
                <a:solidFill>
                  <a:schemeClr val="dk1"/>
                </a:solidFill>
              </a:rPr>
            </a:br>
            <a:endParaRPr sz="1800" dirty="0">
              <a:solidFill>
                <a:schemeClr val="dk1"/>
              </a:solidFill>
            </a:endParaRPr>
          </a:p>
          <a:p>
            <a:r>
              <a:rPr lang="en" sz="1800" b="1" dirty="0">
                <a:solidFill>
                  <a:schemeClr val="dk1"/>
                </a:solidFill>
              </a:rPr>
              <a:t>Raw count data: </a:t>
            </a:r>
            <a:r>
              <a:rPr lang="en" sz="1800" dirty="0">
                <a:solidFill>
                  <a:schemeClr val="dk1"/>
                </a:solidFill>
              </a:rPr>
              <a:t>in supplementary file</a:t>
            </a:r>
            <a:endParaRPr sz="1800" dirty="0">
              <a:solidFill>
                <a:schemeClr val="dk1"/>
              </a:solidFill>
            </a:endParaRPr>
          </a:p>
          <a:p>
            <a:endParaRPr sz="1800" b="1" dirty="0">
              <a:solidFill>
                <a:schemeClr val="dk1"/>
              </a:solidFill>
            </a:endParaRPr>
          </a:p>
          <a:p>
            <a:r>
              <a:rPr lang="en" sz="1800" b="1" dirty="0">
                <a:solidFill>
                  <a:schemeClr val="dk1"/>
                </a:solidFill>
              </a:rPr>
              <a:t>Raw reads:</a:t>
            </a:r>
            <a:r>
              <a:rPr lang="en" sz="1800" dirty="0">
                <a:solidFill>
                  <a:schemeClr val="dk1"/>
                </a:solidFill>
              </a:rPr>
              <a:t> usually in </a:t>
            </a:r>
            <a:r>
              <a:rPr lang="en" sz="1800" b="1" dirty="0">
                <a:solidFill>
                  <a:schemeClr val="dk1"/>
                </a:solidFill>
              </a:rPr>
              <a:t>SRA/ENA</a:t>
            </a:r>
            <a:r>
              <a:rPr lang="en" sz="1800" dirty="0">
                <a:solidFill>
                  <a:schemeClr val="dk1"/>
                </a:solidFill>
              </a:rPr>
              <a:t> as </a:t>
            </a:r>
            <a:r>
              <a:rPr lang="en" sz="18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SRR…</a:t>
            </a:r>
            <a:r>
              <a:rPr lang="en" sz="1800" dirty="0">
                <a:solidFill>
                  <a:schemeClr val="dk1"/>
                </a:solidFill>
              </a:rPr>
              <a:t> → </a:t>
            </a:r>
            <a:r>
              <a:rPr lang="en" sz="18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*.fastq.gz</a:t>
            </a:r>
            <a:endParaRPr sz="18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</a:pPr>
            <a:r>
              <a:rPr lang="en" sz="1500" b="1" dirty="0">
                <a:solidFill>
                  <a:schemeClr val="dk1"/>
                </a:solidFill>
              </a:rPr>
              <a:t>Raw (FASTQ):</a:t>
            </a:r>
            <a:r>
              <a:rPr lang="en" sz="1500" dirty="0">
                <a:solidFill>
                  <a:schemeClr val="dk1"/>
                </a:solidFill>
              </a:rPr>
              <a:t> larger; needed for alignment/QC</a:t>
            </a:r>
            <a:endParaRPr sz="15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C758-C368-F037-2A7B-3108595C7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AD35-905E-899A-E274-DDB23B2B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Two ways to download FASTQ</a:t>
            </a:r>
            <a:br>
              <a:rPr lang="en-US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0F5C0-0DDE-5075-BA16-64722289B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#1 `</a:t>
            </a:r>
            <a:r>
              <a:rPr lang="en-US" b="1" dirty="0" err="1"/>
              <a:t>wget</a:t>
            </a:r>
            <a:r>
              <a:rPr lang="en-US" b="1" dirty="0"/>
              <a:t>` — the universal downloader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Works for </a:t>
            </a:r>
            <a:r>
              <a:rPr lang="en-US" b="1" dirty="0"/>
              <a:t>any URL</a:t>
            </a:r>
            <a:r>
              <a:rPr lang="en-US" dirty="0"/>
              <a:t> (FTP, HTTPS)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Best when GEO gives you a direct supplementary file link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Best when ENA hosts the FASTQ already </a:t>
            </a:r>
            <a:r>
              <a:rPr lang="en-US" dirty="0" err="1"/>
              <a:t>gzipped</a:t>
            </a:r>
            <a:r>
              <a:rPr lang="en-US" dirty="0"/>
              <a:t> (faster than going through SRA)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Pros: no install, just works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Cons: you need to </a:t>
            </a:r>
            <a:r>
              <a:rPr lang="en-US" i="1" dirty="0"/>
              <a:t>know the URL</a:t>
            </a:r>
            <a:endParaRPr lang="en-US" dirty="0"/>
          </a:p>
          <a:p>
            <a:pPr marL="11430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721BF-86B2-4258-5985-A9F26D08F8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4285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735B4-5264-565B-86AE-2C1BED60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8D6B-4A59-E6BB-5B9A-3DCE8627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Two ways to download FASTQ</a:t>
            </a:r>
            <a:br>
              <a:rPr lang="en-US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FB586-9A09-5647-5D0A-D4F239014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#2 `</a:t>
            </a:r>
            <a:r>
              <a:rPr lang="en-US" sz="2800" b="1" dirty="0" err="1"/>
              <a:t>fastq</a:t>
            </a:r>
            <a:r>
              <a:rPr lang="en-US" sz="2800" b="1" dirty="0"/>
              <a:t>-dump` (and </a:t>
            </a:r>
            <a:r>
              <a:rPr lang="en-US" sz="2800" b="1" dirty="0" err="1"/>
              <a:t>fasterq</a:t>
            </a:r>
            <a:r>
              <a:rPr lang="en-US" sz="2800" b="1" dirty="0"/>
              <a:t>-dump) — the SRA-native tool</a:t>
            </a:r>
            <a:br>
              <a:rPr lang="en-US" sz="2800" dirty="0"/>
            </a:b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dirty="0"/>
              <a:t>Part of NCBI's </a:t>
            </a:r>
            <a:r>
              <a:rPr lang="en-US" b="1" dirty="0"/>
              <a:t>SRA Toolkit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Takes an </a:t>
            </a:r>
            <a:r>
              <a:rPr lang="en-US" b="1" dirty="0"/>
              <a:t>SRR accession</a:t>
            </a:r>
            <a:r>
              <a:rPr lang="en-US" dirty="0"/>
              <a:t> directly — no URL needed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Knows how to handle paired-end splitting, read filtering, range selection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Pros: reproducible, scriptable, handles every SRR uniformly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Cons: needs install; first run downloads a cache</a:t>
            </a:r>
          </a:p>
          <a:p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B54FF-A848-081B-4DAC-279DE928E6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9956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38</a:t>
            </a:fld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b="10378"/>
          <a:stretch/>
        </p:blipFill>
        <p:spPr>
          <a:xfrm>
            <a:off x="152400" y="372471"/>
            <a:ext cx="8839199" cy="37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 rotWithShape="1">
          <a:blip r:embed="rId4">
            <a:alphaModFix/>
          </a:blip>
          <a:srcRect t="26782"/>
          <a:stretch/>
        </p:blipFill>
        <p:spPr>
          <a:xfrm>
            <a:off x="-2" y="4614067"/>
            <a:ext cx="9144001" cy="11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A719-B29D-A0CA-3CF6-12D16E8B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Installing SRA Toolkit (optional)</a:t>
            </a:r>
            <a:br>
              <a:rPr lang="en-US" b="1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7919-B60A-CB99-EBD7-950CA5156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C2B52-041E-8415-F18C-D7A4C760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82" y="1754646"/>
            <a:ext cx="6269036" cy="36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8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3927-72FD-8E2A-DE8A-8F793325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6"/>
            <a:ext cx="8520600" cy="2056527"/>
          </a:xfrm>
        </p:spPr>
        <p:txBody>
          <a:bodyPr>
            <a:normAutofit/>
          </a:bodyPr>
          <a:lstStyle/>
          <a:p>
            <a:r>
              <a:rPr lang="en-US" b="1" dirty="0"/>
              <a:t>The two demo commands</a:t>
            </a:r>
            <a:br>
              <a:rPr lang="en-US" b="1" dirty="0"/>
            </a:br>
            <a:r>
              <a:rPr lang="en-US" sz="2000" b="1" dirty="0"/>
              <a:t>You can find both command in the </a:t>
            </a:r>
            <a:r>
              <a:rPr lang="en-US" sz="2000" b="1" dirty="0" err="1"/>
              <a:t>github</a:t>
            </a:r>
            <a:r>
              <a:rPr lang="en-US" sz="2000" b="1" dirty="0"/>
              <a:t> repo</a:t>
            </a:r>
            <a:br>
              <a:rPr lang="en-US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158D-18C2-B350-7D3C-5FAA02833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061433"/>
            <a:ext cx="8520600" cy="963971"/>
          </a:xfrm>
        </p:spPr>
        <p:txBody>
          <a:bodyPr/>
          <a:lstStyle/>
          <a:p>
            <a:r>
              <a:rPr lang="en-US" b="1" dirty="0"/>
              <a:t>Download with </a:t>
            </a:r>
            <a:r>
              <a:rPr lang="en-US" b="1" dirty="0" err="1"/>
              <a:t>wget</a:t>
            </a:r>
            <a:r>
              <a:rPr lang="en-US" dirty="0"/>
              <a:t> (from ENA — friendliest mirror):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D27E5-8307-91D7-050D-B6E749FE4A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40</a:t>
            </a:fld>
            <a:endParaRPr lang="e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0ABD721-FCC8-BB5E-5C98-A0D1E5EBCA8B}"/>
              </a:ext>
            </a:extLst>
          </p:cNvPr>
          <p:cNvSpPr txBox="1">
            <a:spLocks/>
          </p:cNvSpPr>
          <p:nvPr/>
        </p:nvSpPr>
        <p:spPr>
          <a:xfrm>
            <a:off x="226208" y="3913472"/>
            <a:ext cx="8520600" cy="96397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457200" lvl="0" indent="-3429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17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Download with </a:t>
            </a:r>
            <a:r>
              <a:rPr lang="en-US" b="1" dirty="0" err="1"/>
              <a:t>fastq</a:t>
            </a:r>
            <a:r>
              <a:rPr lang="en-US" b="1" dirty="0"/>
              <a:t>-dump </a:t>
            </a:r>
            <a:r>
              <a:rPr lang="en-US" dirty="0"/>
              <a:t>(cap at 10,000 reads for the demo):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D5B83-2008-539A-3211-D5AEAB399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2" y="5119482"/>
            <a:ext cx="8623966" cy="856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145A6F-0872-67D4-4C13-CBA6C4EB2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1" y="2751613"/>
            <a:ext cx="8623967" cy="85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8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41</a:t>
            </a:fld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731" y="124178"/>
            <a:ext cx="7209754" cy="6175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42</a:t>
            </a:fld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rcRect r="12517"/>
          <a:stretch>
            <a:fillRect/>
          </a:stretch>
        </p:blipFill>
        <p:spPr>
          <a:xfrm>
            <a:off x="1153837" y="125968"/>
            <a:ext cx="6037185" cy="642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37123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r>
              <a:rPr lang="en" dirty="0"/>
              <a:t>FTP / HTTPS Download</a:t>
            </a:r>
            <a:endParaRPr dirty="0"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311700" y="1605841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" sz="1500" dirty="0">
                <a:solidFill>
                  <a:schemeClr val="dk1"/>
                </a:solidFill>
              </a:rPr>
              <a:t>Pick one tool: </a:t>
            </a:r>
            <a:r>
              <a:rPr lang="en" sz="15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curl -L -O </a:t>
            </a:r>
            <a:r>
              <a:rPr lang="en" sz="1500" dirty="0">
                <a:solidFill>
                  <a:schemeClr val="dk1"/>
                </a:solidFill>
              </a:rPr>
              <a:t>&lt;URL&gt; or </a:t>
            </a:r>
            <a:r>
              <a:rPr lang="en" sz="15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wget </a:t>
            </a:r>
            <a:r>
              <a:rPr lang="en" sz="1500" dirty="0">
                <a:solidFill>
                  <a:schemeClr val="dk1"/>
                </a:solidFill>
              </a:rPr>
              <a:t>&lt;URL&gt;</a:t>
            </a:r>
            <a:endParaRPr sz="15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2" name="Google Shape;142;p2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algn="r"/>
            <a:fld id="{00000000-1234-1234-1234-123412341234}" type="slidenum">
              <a:rPr lang="en"/>
              <a:pPr algn="r"/>
              <a:t>43</a:t>
            </a:fld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64941"/>
            <a:ext cx="9144000" cy="1474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4328239"/>
            <a:ext cx="9143999" cy="53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DE-1638-C703-18CD-32395353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EBAA4-4A7B-EC85-C55C-A79DB1AC7DF8}"/>
              </a:ext>
            </a:extLst>
          </p:cNvPr>
          <p:cNvSpPr txBox="1"/>
          <p:nvPr/>
        </p:nvSpPr>
        <p:spPr>
          <a:xfrm>
            <a:off x="461866" y="1525075"/>
            <a:ext cx="7581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Exercise 2 — pull real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EDE15C-3D10-AFBA-79D3-DFB4248A7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6" y="2480187"/>
            <a:ext cx="8496201" cy="285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22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212D-F3F4-A1CA-C839-3065F5F2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34" y="1539260"/>
            <a:ext cx="7886700" cy="955967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Putting it together on real data</a:t>
            </a:r>
            <a:br>
              <a:rPr lang="en-US" sz="4400" b="1" dirty="0"/>
            </a:br>
            <a:endParaRPr lang="en-CA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E5024-CD40-AC3B-A9D0-562CD582EC73}"/>
              </a:ext>
            </a:extLst>
          </p:cNvPr>
          <p:cNvSpPr txBox="1"/>
          <p:nvPr/>
        </p:nvSpPr>
        <p:spPr>
          <a:xfrm>
            <a:off x="205433" y="2125767"/>
            <a:ext cx="8287638" cy="303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2800" b="1" i="0" dirty="0">
                <a:solidFill>
                  <a:srgbClr val="1F2328"/>
                </a:solidFill>
                <a:effectLst/>
              </a:rPr>
              <a:t>Now that you can download, </a:t>
            </a:r>
            <a:r>
              <a:rPr lang="en-US" sz="2800" b="1" dirty="0"/>
              <a:t>let's </a:t>
            </a:r>
            <a:r>
              <a:rPr lang="en-US" sz="2800" b="1" i="1" dirty="0"/>
              <a:t>look</a:t>
            </a:r>
            <a:r>
              <a:rPr lang="en-US" sz="2800" b="1" dirty="0"/>
              <a:t> at the data</a:t>
            </a:r>
          </a:p>
          <a:p>
            <a:r>
              <a:rPr lang="en-US" sz="2400" dirty="0"/>
              <a:t>Two file types, two skill sets: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Counts CSV</a:t>
            </a:r>
            <a:r>
              <a:rPr lang="en-US" sz="2400" dirty="0"/>
              <a:t> (</a:t>
            </a:r>
            <a:r>
              <a:rPr lang="en-US" sz="2400" dirty="0" err="1"/>
              <a:t>gzipped</a:t>
            </a:r>
            <a:r>
              <a:rPr lang="en-US" sz="2400" dirty="0"/>
              <a:t>): tabular, comma-separated, has a 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FASTQ</a:t>
            </a:r>
            <a:r>
              <a:rPr lang="en-US" sz="2400" dirty="0"/>
              <a:t>: 4 lines per read, no header, sequence-aware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endParaRPr lang="en-US" b="1" i="0" dirty="0">
              <a:solidFill>
                <a:srgbClr val="1F2328"/>
              </a:solidFill>
              <a:effectLst/>
              <a:latin typeface="Mona Sans VF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649355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2863-4ACD-DBBF-814A-2E61CF49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95634345-FA6A-F3AE-ADA2-6239D69343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sz="4000" b="1" dirty="0"/>
              <a:t>awk – in FASTQ files</a:t>
            </a:r>
            <a:br>
              <a:rPr lang="en-US" sz="4000" b="1" dirty="0"/>
            </a:br>
            <a:r>
              <a:rPr lang="en-US" sz="2400" b="1" dirty="0"/>
              <a:t>lets do some awk practice on the </a:t>
            </a:r>
            <a:r>
              <a:rPr lang="en-US" sz="2400" b="1" dirty="0" err="1"/>
              <a:t>fastq</a:t>
            </a:r>
            <a:r>
              <a:rPr lang="en-US" sz="2400" b="1" dirty="0"/>
              <a:t> files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E3DDA-F92D-11B1-EC77-9999C305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387539"/>
            <a:ext cx="6125195" cy="415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754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93ABE-2537-D3CB-D3AA-F16CC0C66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807C-E67A-86F8-1B9E-BEE75C5D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F8FA7-16C6-3551-5EB6-6BF12964B6F7}"/>
              </a:ext>
            </a:extLst>
          </p:cNvPr>
          <p:cNvSpPr txBox="1"/>
          <p:nvPr/>
        </p:nvSpPr>
        <p:spPr>
          <a:xfrm>
            <a:off x="461866" y="1525075"/>
            <a:ext cx="7581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Exercise 3.1 — Counts CSV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660B6-7BF9-D194-C1E6-0EAE86D7C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4" y="2294516"/>
            <a:ext cx="8968636" cy="356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207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2606-8CE1-F284-88FE-C3E21F56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0848-2A67-73BB-8F54-C4A79297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89E0B-F006-EDFA-A987-85362E3F8445}"/>
              </a:ext>
            </a:extLst>
          </p:cNvPr>
          <p:cNvSpPr txBox="1"/>
          <p:nvPr/>
        </p:nvSpPr>
        <p:spPr>
          <a:xfrm>
            <a:off x="461866" y="1525075"/>
            <a:ext cx="7581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Exercise 3.2 — FASTQ inspection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75F025-B2E8-713A-FD74-1793B228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6" y="2294516"/>
            <a:ext cx="7772400" cy="411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99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D43E-A9D5-6EE1-E12C-1B980BF0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9E27CB-B702-A1CD-BDBD-F5E2DE2E25DD}"/>
              </a:ext>
            </a:extLst>
          </p:cNvPr>
          <p:cNvSpPr txBox="1"/>
          <p:nvPr/>
        </p:nvSpPr>
        <p:spPr>
          <a:xfrm>
            <a:off x="2111904" y="3167390"/>
            <a:ext cx="4910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Q&amp;A!!!</a:t>
            </a:r>
          </a:p>
        </p:txBody>
      </p:sp>
    </p:spTree>
    <p:extLst>
      <p:ext uri="{BB962C8B-B14F-4D97-AF65-F5344CB8AC3E}">
        <p14:creationId xmlns:p14="http://schemas.microsoft.com/office/powerpoint/2010/main" val="33448457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F573-A595-A958-FDC4-8C6D9F83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9D71BF-7188-2774-A2A3-5661271E28EF}"/>
              </a:ext>
            </a:extLst>
          </p:cNvPr>
          <p:cNvSpPr txBox="1"/>
          <p:nvPr/>
        </p:nvSpPr>
        <p:spPr>
          <a:xfrm>
            <a:off x="2111904" y="2560006"/>
            <a:ext cx="4910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With thanks to our collaborators</a:t>
            </a:r>
          </a:p>
        </p:txBody>
      </p:sp>
      <p:pic>
        <p:nvPicPr>
          <p:cNvPr id="2" name="Picture 1" descr="A logo with text on it&#10;&#10;AI-generated content may be incorrect.">
            <a:extLst>
              <a:ext uri="{FF2B5EF4-FFF2-40B4-BE49-F238E27FC236}">
                <a16:creationId xmlns:a16="http://schemas.microsoft.com/office/drawing/2014/main" id="{D9BB4CE5-6F22-69B5-F634-99BAD51B5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855" y="4943800"/>
            <a:ext cx="4056488" cy="896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592CB7-514F-19C7-1DF8-6243A7C04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1" y="3429000"/>
            <a:ext cx="3483377" cy="1924458"/>
          </a:xfrm>
          <a:prstGeom prst="rect">
            <a:avLst/>
          </a:prstGeom>
        </p:spPr>
      </p:pic>
      <p:pic>
        <p:nvPicPr>
          <p:cNvPr id="5" name="Picture 4" descr="Logo-RI-MUHC – Pai Global TB Group">
            <a:extLst>
              <a:ext uri="{FF2B5EF4-FFF2-40B4-BE49-F238E27FC236}">
                <a16:creationId xmlns:a16="http://schemas.microsoft.com/office/drawing/2014/main" id="{F9CA2DDF-63A9-0342-601A-360B4A268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07" y="5115543"/>
            <a:ext cx="4149391" cy="5838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32FC59-9710-008C-8FA6-33D877124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838" y="3961134"/>
            <a:ext cx="4680522" cy="7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515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8941</TotalTime>
  <Words>1020</Words>
  <Application>Microsoft Macintosh PowerPoint</Application>
  <PresentationFormat>On-screen Show (4:3)</PresentationFormat>
  <Paragraphs>157</Paragraphs>
  <Slides>50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Calibri</vt:lpstr>
      <vt:lpstr>Calibri Light</vt:lpstr>
      <vt:lpstr>Helvetica</vt:lpstr>
      <vt:lpstr>Mona Sans VF</vt:lpstr>
      <vt:lpstr>Monaco</vt:lpstr>
      <vt:lpstr>Open Sans Light</vt:lpstr>
      <vt:lpstr>Roboto Mono</vt:lpstr>
      <vt:lpstr>Thème Office</vt:lpstr>
      <vt:lpstr>PowerPoint Presentation</vt:lpstr>
      <vt:lpstr>PowerPoint Presentation</vt:lpstr>
      <vt:lpstr>Setup &amp; Troubleshooting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File management &amp; navigation</vt:lpstr>
      <vt:lpstr>PowerPoint Presentation</vt:lpstr>
      <vt:lpstr>PowerPoint Presentation</vt:lpstr>
      <vt:lpstr>File inspection</vt:lpstr>
      <vt:lpstr>Exercise 1</vt:lpstr>
      <vt:lpstr>Pattern Matching  </vt:lpstr>
      <vt:lpstr>grep — "global regular expression print"   </vt:lpstr>
      <vt:lpstr>grep — "global regular expression print"   </vt:lpstr>
      <vt:lpstr>PowerPoint Presentation</vt:lpstr>
      <vt:lpstr>Regex — describing the shape of text</vt:lpstr>
      <vt:lpstr>Regex — describing the shape of text</vt:lpstr>
      <vt:lpstr>Regex — solve today's Wordle</vt:lpstr>
      <vt:lpstr>Regex — solve today's Wordle</vt:lpstr>
      <vt:lpstr>Regex — solve today's Wordle</vt:lpstr>
      <vt:lpstr>grep finds lines. awk works with fields.</vt:lpstr>
      <vt:lpstr>awk</vt:lpstr>
      <vt:lpstr>awk</vt:lpstr>
      <vt:lpstr>awk – Mini Exercise  </vt:lpstr>
      <vt:lpstr>awk – in FASTQ files</vt:lpstr>
      <vt:lpstr>awk – in FASTQ files lets do some awk practice on the fastq files later (slide 46)</vt:lpstr>
      <vt:lpstr>PowerPoint Presentation</vt:lpstr>
      <vt:lpstr>What is GEO? </vt:lpstr>
      <vt:lpstr>GEO (Gene Expression Omnibus)</vt:lpstr>
      <vt:lpstr>Accession types — learn to read them </vt:lpstr>
      <vt:lpstr>PowerPoint Presentation</vt:lpstr>
      <vt:lpstr>PowerPoint Presentation</vt:lpstr>
      <vt:lpstr>Two ways to download FASTQ </vt:lpstr>
      <vt:lpstr>Two ways to download FASTQ </vt:lpstr>
      <vt:lpstr>PowerPoint Presentation</vt:lpstr>
      <vt:lpstr>Installing SRA Toolkit (optional) </vt:lpstr>
      <vt:lpstr>The two demo commands You can find both command in the github repo </vt:lpstr>
      <vt:lpstr>PowerPoint Presentation</vt:lpstr>
      <vt:lpstr>PowerPoint Presentation</vt:lpstr>
      <vt:lpstr>FTP / HTTPS Download</vt:lpstr>
      <vt:lpstr> </vt:lpstr>
      <vt:lpstr>Putting it together on real data </vt:lpstr>
      <vt:lpstr>awk – in FASTQ files lets do some awk practice on the fastq files</vt:lpstr>
      <vt:lpstr> 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arsham mikaeili</cp:lastModifiedBy>
  <cp:revision>45</cp:revision>
  <dcterms:created xsi:type="dcterms:W3CDTF">2019-07-29T14:54:16Z</dcterms:created>
  <dcterms:modified xsi:type="dcterms:W3CDTF">2026-05-27T16:59:45Z</dcterms:modified>
</cp:coreProperties>
</file>